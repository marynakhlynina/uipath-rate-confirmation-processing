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8" r:id="rId1"/>
  </p:sldMasterIdLst>
  <p:notesMasterIdLst>
    <p:notesMasterId r:id="rId19"/>
  </p:notesMasterIdLst>
  <p:sldIdLst>
    <p:sldId id="256" r:id="rId2"/>
    <p:sldId id="269" r:id="rId3"/>
    <p:sldId id="271" r:id="rId4"/>
    <p:sldId id="268" r:id="rId5"/>
    <p:sldId id="272" r:id="rId6"/>
    <p:sldId id="273" r:id="rId7"/>
    <p:sldId id="274" r:id="rId8"/>
    <p:sldId id="275" r:id="rId9"/>
    <p:sldId id="277" r:id="rId10"/>
    <p:sldId id="278" r:id="rId11"/>
    <p:sldId id="276" r:id="rId12"/>
    <p:sldId id="279" r:id="rId13"/>
    <p:sldId id="281" r:id="rId14"/>
    <p:sldId id="280" r:id="rId15"/>
    <p:sldId id="282" r:id="rId16"/>
    <p:sldId id="283" r:id="rId17"/>
    <p:sldId id="284" r:id="rId18"/>
  </p:sldIdLst>
  <p:sldSz cx="9144000" cy="5143500" type="screen16x9"/>
  <p:notesSz cx="6858000" cy="9144000"/>
  <p:embeddedFontLst>
    <p:embeddedFont>
      <p:font typeface="Inter" panose="02000503000000020004"/>
      <p:regular r:id="rId20"/>
      <p:bold r:id="rId20"/>
      <p:italic r:id="rId20"/>
      <p:boldItalic r:id="rId20"/>
    </p:embeddedFont>
    <p:embeddedFont>
      <p:font typeface="Inter ExtraBold" panose="02000503000000020004"/>
      <p:regular r:id="rId21"/>
      <p:bold r:id="rId20"/>
      <p:italic r:id="rId20"/>
      <p:boldItalic r:id="rId20"/>
    </p:embeddedFont>
    <p:embeddedFont>
      <p:font typeface="Inter Medium" pitchFamily="2" charset="2"/>
      <p:regular r:id="rId20"/>
      <p:bold r:id="rId20"/>
      <p:italic r:id="rId20"/>
      <p:boldItalic r:id="rId20"/>
    </p:embeddedFont>
    <p:embeddedFont>
      <p:font typeface="Wingdings 3" pitchFamily="2" charset="2"/>
      <p:regular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10"/>
    <p:restoredTop sz="94562"/>
  </p:normalViewPr>
  <p:slideViewPr>
    <p:cSldViewPr snapToGrid="0">
      <p:cViewPr varScale="1">
        <p:scale>
          <a:sx n="133" d="100"/>
          <a:sy n="133" d="100"/>
        </p:scale>
        <p:origin x="704" y="192"/>
      </p:cViewPr>
      <p:guideLst/>
    </p:cSldViewPr>
  </p:slideViewPr>
  <p:notesTextViewPr>
    <p:cViewPr>
      <p:scale>
        <a:sx n="1" d="1"/>
        <a:sy n="1" d="1"/>
      </p:scale>
      <p:origin x="0" y="0"/>
    </p:cViewPr>
  </p:notesTextViewPr>
  <p:notesViewPr>
    <p:cSldViewPr snapToGrid="0">
      <p:cViewPr varScale="1">
        <p:scale>
          <a:sx n="80" d="100"/>
          <a:sy n="80" d="100"/>
        </p:scale>
        <p:origin x="404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6e7cf68d7d_0_4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6e7cf68d7d_0_4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FB983A4-A931-DF8F-0FCF-417FED418705}"/>
            </a:ext>
          </a:extLst>
        </p:cNvPr>
        <p:cNvGrpSpPr/>
        <p:nvPr/>
      </p:nvGrpSpPr>
      <p:grpSpPr>
        <a:xfrm>
          <a:off x="0" y="0"/>
          <a:ext cx="0" cy="0"/>
          <a:chOff x="0" y="0"/>
          <a:chExt cx="0" cy="0"/>
        </a:xfrm>
      </p:grpSpPr>
      <p:sp>
        <p:nvSpPr>
          <p:cNvPr id="86" name="Google Shape;86;g36e7cf68d7d_0_147:notes">
            <a:extLst>
              <a:ext uri="{FF2B5EF4-FFF2-40B4-BE49-F238E27FC236}">
                <a16:creationId xmlns:a16="http://schemas.microsoft.com/office/drawing/2014/main" id="{2A46EC6A-7B88-4D8E-6067-01AD807382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6e7cf68d7d_0_147:notes">
            <a:extLst>
              <a:ext uri="{FF2B5EF4-FFF2-40B4-BE49-F238E27FC236}">
                <a16:creationId xmlns:a16="http://schemas.microsoft.com/office/drawing/2014/main" id="{92220ADB-C088-3C8B-A76C-EF7E44E42D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03208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89098481-7657-AA0D-8831-6ABDE7D20DC3}"/>
            </a:ext>
          </a:extLst>
        </p:cNvPr>
        <p:cNvGrpSpPr/>
        <p:nvPr/>
      </p:nvGrpSpPr>
      <p:grpSpPr>
        <a:xfrm>
          <a:off x="0" y="0"/>
          <a:ext cx="0" cy="0"/>
          <a:chOff x="0" y="0"/>
          <a:chExt cx="0" cy="0"/>
        </a:xfrm>
      </p:grpSpPr>
      <p:sp>
        <p:nvSpPr>
          <p:cNvPr id="86" name="Google Shape;86;g36e7cf68d7d_0_147:notes">
            <a:extLst>
              <a:ext uri="{FF2B5EF4-FFF2-40B4-BE49-F238E27FC236}">
                <a16:creationId xmlns:a16="http://schemas.microsoft.com/office/drawing/2014/main" id="{5240F54A-FF27-E812-8F2C-0008BAB777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6e7cf68d7d_0_147:notes">
            <a:extLst>
              <a:ext uri="{FF2B5EF4-FFF2-40B4-BE49-F238E27FC236}">
                <a16:creationId xmlns:a16="http://schemas.microsoft.com/office/drawing/2014/main" id="{5B030224-8C07-2961-B54E-E7A654490C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29652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7B3BB839-59D1-988D-8DCC-739CDD93B5DC}"/>
            </a:ext>
          </a:extLst>
        </p:cNvPr>
        <p:cNvGrpSpPr/>
        <p:nvPr/>
      </p:nvGrpSpPr>
      <p:grpSpPr>
        <a:xfrm>
          <a:off x="0" y="0"/>
          <a:ext cx="0" cy="0"/>
          <a:chOff x="0" y="0"/>
          <a:chExt cx="0" cy="0"/>
        </a:xfrm>
      </p:grpSpPr>
      <p:sp>
        <p:nvSpPr>
          <p:cNvPr id="86" name="Google Shape;86;g36e7cf68d7d_0_147:notes">
            <a:extLst>
              <a:ext uri="{FF2B5EF4-FFF2-40B4-BE49-F238E27FC236}">
                <a16:creationId xmlns:a16="http://schemas.microsoft.com/office/drawing/2014/main" id="{9EC271B3-BB66-A540-9F59-4BEBBD0530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6e7cf68d7d_0_147:notes">
            <a:extLst>
              <a:ext uri="{FF2B5EF4-FFF2-40B4-BE49-F238E27FC236}">
                <a16:creationId xmlns:a16="http://schemas.microsoft.com/office/drawing/2014/main" id="{413616ED-63E1-A0AA-DAB6-66CFB14F40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985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1F3366E-F87E-6018-999B-D631FBA418E3}"/>
            </a:ext>
          </a:extLst>
        </p:cNvPr>
        <p:cNvGrpSpPr/>
        <p:nvPr/>
      </p:nvGrpSpPr>
      <p:grpSpPr>
        <a:xfrm>
          <a:off x="0" y="0"/>
          <a:ext cx="0" cy="0"/>
          <a:chOff x="0" y="0"/>
          <a:chExt cx="0" cy="0"/>
        </a:xfrm>
      </p:grpSpPr>
      <p:sp>
        <p:nvSpPr>
          <p:cNvPr id="86" name="Google Shape;86;g36e7cf68d7d_0_147:notes">
            <a:extLst>
              <a:ext uri="{FF2B5EF4-FFF2-40B4-BE49-F238E27FC236}">
                <a16:creationId xmlns:a16="http://schemas.microsoft.com/office/drawing/2014/main" id="{E418166E-A323-4468-576B-24698C3CCA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6e7cf68d7d_0_147:notes">
            <a:extLst>
              <a:ext uri="{FF2B5EF4-FFF2-40B4-BE49-F238E27FC236}">
                <a16:creationId xmlns:a16="http://schemas.microsoft.com/office/drawing/2014/main" id="{B16F436E-08FD-ADCC-0B67-CEBAA09EFD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3000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80A02ED-6ED2-77F5-A498-397E1788D019}"/>
            </a:ext>
          </a:extLst>
        </p:cNvPr>
        <p:cNvGrpSpPr/>
        <p:nvPr/>
      </p:nvGrpSpPr>
      <p:grpSpPr>
        <a:xfrm>
          <a:off x="0" y="0"/>
          <a:ext cx="0" cy="0"/>
          <a:chOff x="0" y="0"/>
          <a:chExt cx="0" cy="0"/>
        </a:xfrm>
      </p:grpSpPr>
      <p:sp>
        <p:nvSpPr>
          <p:cNvPr id="86" name="Google Shape;86;g36e7cf68d7d_0_147:notes">
            <a:extLst>
              <a:ext uri="{FF2B5EF4-FFF2-40B4-BE49-F238E27FC236}">
                <a16:creationId xmlns:a16="http://schemas.microsoft.com/office/drawing/2014/main" id="{570F0ED3-37CF-C9BC-0C4E-B9FF7BDF25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6e7cf68d7d_0_147:notes">
            <a:extLst>
              <a:ext uri="{FF2B5EF4-FFF2-40B4-BE49-F238E27FC236}">
                <a16:creationId xmlns:a16="http://schemas.microsoft.com/office/drawing/2014/main" id="{AA5101B2-6437-4225-8866-1821DB4E14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50216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8B18903-8B3F-6213-9349-C4F2CC04D72C}"/>
            </a:ext>
          </a:extLst>
        </p:cNvPr>
        <p:cNvGrpSpPr/>
        <p:nvPr/>
      </p:nvGrpSpPr>
      <p:grpSpPr>
        <a:xfrm>
          <a:off x="0" y="0"/>
          <a:ext cx="0" cy="0"/>
          <a:chOff x="0" y="0"/>
          <a:chExt cx="0" cy="0"/>
        </a:xfrm>
      </p:grpSpPr>
      <p:sp>
        <p:nvSpPr>
          <p:cNvPr id="86" name="Google Shape;86;g36e7cf68d7d_0_147:notes">
            <a:extLst>
              <a:ext uri="{FF2B5EF4-FFF2-40B4-BE49-F238E27FC236}">
                <a16:creationId xmlns:a16="http://schemas.microsoft.com/office/drawing/2014/main" id="{AA65C111-9A37-3FE1-2916-8FDABDDEE9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6e7cf68d7d_0_147:notes">
            <a:extLst>
              <a:ext uri="{FF2B5EF4-FFF2-40B4-BE49-F238E27FC236}">
                <a16:creationId xmlns:a16="http://schemas.microsoft.com/office/drawing/2014/main" id="{B551BA27-3AF3-04CA-5E24-F961AE6FE1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4298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5BEA51C6-53C8-3809-9BF2-1F36D692BD97}"/>
            </a:ext>
          </a:extLst>
        </p:cNvPr>
        <p:cNvGrpSpPr/>
        <p:nvPr/>
      </p:nvGrpSpPr>
      <p:grpSpPr>
        <a:xfrm>
          <a:off x="0" y="0"/>
          <a:ext cx="0" cy="0"/>
          <a:chOff x="0" y="0"/>
          <a:chExt cx="0" cy="0"/>
        </a:xfrm>
      </p:grpSpPr>
      <p:sp>
        <p:nvSpPr>
          <p:cNvPr id="86" name="Google Shape;86;g36e7cf68d7d_0_147:notes">
            <a:extLst>
              <a:ext uri="{FF2B5EF4-FFF2-40B4-BE49-F238E27FC236}">
                <a16:creationId xmlns:a16="http://schemas.microsoft.com/office/drawing/2014/main" id="{2A214A3F-F691-372F-DD12-3B38DB79FC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6e7cf68d7d_0_147:notes">
            <a:extLst>
              <a:ext uri="{FF2B5EF4-FFF2-40B4-BE49-F238E27FC236}">
                <a16:creationId xmlns:a16="http://schemas.microsoft.com/office/drawing/2014/main" id="{3E2674BA-9BD2-0BF0-19D6-D6842DFE7F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73132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B6912570-1E89-FCA0-3C99-DA312A5C9A25}"/>
            </a:ext>
          </a:extLst>
        </p:cNvPr>
        <p:cNvGrpSpPr/>
        <p:nvPr/>
      </p:nvGrpSpPr>
      <p:grpSpPr>
        <a:xfrm>
          <a:off x="0" y="0"/>
          <a:ext cx="0" cy="0"/>
          <a:chOff x="0" y="0"/>
          <a:chExt cx="0" cy="0"/>
        </a:xfrm>
      </p:grpSpPr>
      <p:sp>
        <p:nvSpPr>
          <p:cNvPr id="86" name="Google Shape;86;g36e7cf68d7d_0_147:notes">
            <a:extLst>
              <a:ext uri="{FF2B5EF4-FFF2-40B4-BE49-F238E27FC236}">
                <a16:creationId xmlns:a16="http://schemas.microsoft.com/office/drawing/2014/main" id="{F2DF82F0-AC4D-0E6C-F8AB-26CBEDC12E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6e7cf68d7d_0_147:notes">
            <a:extLst>
              <a:ext uri="{FF2B5EF4-FFF2-40B4-BE49-F238E27FC236}">
                <a16:creationId xmlns:a16="http://schemas.microsoft.com/office/drawing/2014/main" id="{1644833A-3E82-31F6-2B13-E0EDFDDA63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5817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646A903A-15AD-5DCC-043D-D2FFC923EE3E}"/>
            </a:ext>
          </a:extLst>
        </p:cNvPr>
        <p:cNvGrpSpPr/>
        <p:nvPr/>
      </p:nvGrpSpPr>
      <p:grpSpPr>
        <a:xfrm>
          <a:off x="0" y="0"/>
          <a:ext cx="0" cy="0"/>
          <a:chOff x="0" y="0"/>
          <a:chExt cx="0" cy="0"/>
        </a:xfrm>
      </p:grpSpPr>
      <p:sp>
        <p:nvSpPr>
          <p:cNvPr id="86" name="Google Shape;86;g36e7cf68d7d_0_147:notes">
            <a:extLst>
              <a:ext uri="{FF2B5EF4-FFF2-40B4-BE49-F238E27FC236}">
                <a16:creationId xmlns:a16="http://schemas.microsoft.com/office/drawing/2014/main" id="{2D6759D2-0B91-0FED-720F-FB7C0144AB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6e7cf68d7d_0_147:notes">
            <a:extLst>
              <a:ext uri="{FF2B5EF4-FFF2-40B4-BE49-F238E27FC236}">
                <a16:creationId xmlns:a16="http://schemas.microsoft.com/office/drawing/2014/main" id="{46B8562C-85A7-C57D-4A3A-114479162C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79543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CF6F05C-6679-DA09-3CA0-07443C2FC3C2}"/>
            </a:ext>
          </a:extLst>
        </p:cNvPr>
        <p:cNvGrpSpPr/>
        <p:nvPr/>
      </p:nvGrpSpPr>
      <p:grpSpPr>
        <a:xfrm>
          <a:off x="0" y="0"/>
          <a:ext cx="0" cy="0"/>
          <a:chOff x="0" y="0"/>
          <a:chExt cx="0" cy="0"/>
        </a:xfrm>
      </p:grpSpPr>
      <p:sp>
        <p:nvSpPr>
          <p:cNvPr id="86" name="Google Shape;86;g36e7cf68d7d_0_147:notes">
            <a:extLst>
              <a:ext uri="{FF2B5EF4-FFF2-40B4-BE49-F238E27FC236}">
                <a16:creationId xmlns:a16="http://schemas.microsoft.com/office/drawing/2014/main" id="{F4AF8149-7EB6-CA62-BA01-ACC88EB005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6e7cf68d7d_0_147:notes">
            <a:extLst>
              <a:ext uri="{FF2B5EF4-FFF2-40B4-BE49-F238E27FC236}">
                <a16:creationId xmlns:a16="http://schemas.microsoft.com/office/drawing/2014/main" id="{0AF956A3-106F-0164-CA19-5994437CB7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629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5D0B8553-68BE-DBDB-0BF9-DBE4B71E9EEF}"/>
            </a:ext>
          </a:extLst>
        </p:cNvPr>
        <p:cNvGrpSpPr/>
        <p:nvPr/>
      </p:nvGrpSpPr>
      <p:grpSpPr>
        <a:xfrm>
          <a:off x="0" y="0"/>
          <a:ext cx="0" cy="0"/>
          <a:chOff x="0" y="0"/>
          <a:chExt cx="0" cy="0"/>
        </a:xfrm>
      </p:grpSpPr>
      <p:sp>
        <p:nvSpPr>
          <p:cNvPr id="86" name="Google Shape;86;g36e7cf68d7d_0_147:notes">
            <a:extLst>
              <a:ext uri="{FF2B5EF4-FFF2-40B4-BE49-F238E27FC236}">
                <a16:creationId xmlns:a16="http://schemas.microsoft.com/office/drawing/2014/main" id="{6006C8CF-3328-E01F-F602-81EE8CA3E4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6e7cf68d7d_0_147:notes">
            <a:extLst>
              <a:ext uri="{FF2B5EF4-FFF2-40B4-BE49-F238E27FC236}">
                <a16:creationId xmlns:a16="http://schemas.microsoft.com/office/drawing/2014/main" id="{4939ACA9-5261-867D-6157-B02E8F76F6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37062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E7AE0384-78A6-A61E-CFE5-05C1AF2D3690}"/>
            </a:ext>
          </a:extLst>
        </p:cNvPr>
        <p:cNvGrpSpPr/>
        <p:nvPr/>
      </p:nvGrpSpPr>
      <p:grpSpPr>
        <a:xfrm>
          <a:off x="0" y="0"/>
          <a:ext cx="0" cy="0"/>
          <a:chOff x="0" y="0"/>
          <a:chExt cx="0" cy="0"/>
        </a:xfrm>
      </p:grpSpPr>
      <p:sp>
        <p:nvSpPr>
          <p:cNvPr id="86" name="Google Shape;86;g36e7cf68d7d_0_147:notes">
            <a:extLst>
              <a:ext uri="{FF2B5EF4-FFF2-40B4-BE49-F238E27FC236}">
                <a16:creationId xmlns:a16="http://schemas.microsoft.com/office/drawing/2014/main" id="{392AB38F-09D2-8056-B900-FDD94A3B62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6e7cf68d7d_0_147:notes">
            <a:extLst>
              <a:ext uri="{FF2B5EF4-FFF2-40B4-BE49-F238E27FC236}">
                <a16:creationId xmlns:a16="http://schemas.microsoft.com/office/drawing/2014/main" id="{7EF347C8-9E49-C1F8-B3F2-B624565107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85905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9CFB579A-4912-0CF5-44C6-340FA607BDB1}"/>
            </a:ext>
          </a:extLst>
        </p:cNvPr>
        <p:cNvGrpSpPr/>
        <p:nvPr/>
      </p:nvGrpSpPr>
      <p:grpSpPr>
        <a:xfrm>
          <a:off x="0" y="0"/>
          <a:ext cx="0" cy="0"/>
          <a:chOff x="0" y="0"/>
          <a:chExt cx="0" cy="0"/>
        </a:xfrm>
      </p:grpSpPr>
      <p:sp>
        <p:nvSpPr>
          <p:cNvPr id="86" name="Google Shape;86;g36e7cf68d7d_0_147:notes">
            <a:extLst>
              <a:ext uri="{FF2B5EF4-FFF2-40B4-BE49-F238E27FC236}">
                <a16:creationId xmlns:a16="http://schemas.microsoft.com/office/drawing/2014/main" id="{2054D102-6F87-50C6-11D8-8236B68006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6e7cf68d7d_0_147:notes">
            <a:extLst>
              <a:ext uri="{FF2B5EF4-FFF2-40B4-BE49-F238E27FC236}">
                <a16:creationId xmlns:a16="http://schemas.microsoft.com/office/drawing/2014/main" id="{5B7E05FF-2552-B586-A699-9812B35730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95496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3EEC347D-CAF3-EAD9-ABE9-66A715454C87}"/>
            </a:ext>
          </a:extLst>
        </p:cNvPr>
        <p:cNvGrpSpPr/>
        <p:nvPr/>
      </p:nvGrpSpPr>
      <p:grpSpPr>
        <a:xfrm>
          <a:off x="0" y="0"/>
          <a:ext cx="0" cy="0"/>
          <a:chOff x="0" y="0"/>
          <a:chExt cx="0" cy="0"/>
        </a:xfrm>
      </p:grpSpPr>
      <p:sp>
        <p:nvSpPr>
          <p:cNvPr id="86" name="Google Shape;86;g36e7cf68d7d_0_147:notes">
            <a:extLst>
              <a:ext uri="{FF2B5EF4-FFF2-40B4-BE49-F238E27FC236}">
                <a16:creationId xmlns:a16="http://schemas.microsoft.com/office/drawing/2014/main" id="{9CD32BF1-4C00-A115-7693-6DA812C25A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6e7cf68d7d_0_147:notes">
            <a:extLst>
              <a:ext uri="{FF2B5EF4-FFF2-40B4-BE49-F238E27FC236}">
                <a16:creationId xmlns:a16="http://schemas.microsoft.com/office/drawing/2014/main" id="{BDE86EB2-F257-8FEC-3AD0-1CFCF99048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71113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79BC06B-1B82-13AF-0789-BB6865317E81}"/>
            </a:ext>
          </a:extLst>
        </p:cNvPr>
        <p:cNvGrpSpPr/>
        <p:nvPr/>
      </p:nvGrpSpPr>
      <p:grpSpPr>
        <a:xfrm>
          <a:off x="0" y="0"/>
          <a:ext cx="0" cy="0"/>
          <a:chOff x="0" y="0"/>
          <a:chExt cx="0" cy="0"/>
        </a:xfrm>
      </p:grpSpPr>
      <p:sp>
        <p:nvSpPr>
          <p:cNvPr id="86" name="Google Shape;86;g36e7cf68d7d_0_147:notes">
            <a:extLst>
              <a:ext uri="{FF2B5EF4-FFF2-40B4-BE49-F238E27FC236}">
                <a16:creationId xmlns:a16="http://schemas.microsoft.com/office/drawing/2014/main" id="{D0CBD342-6DB2-929C-77AB-E59FC33CCE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6e7cf68d7d_0_147:notes">
            <a:extLst>
              <a:ext uri="{FF2B5EF4-FFF2-40B4-BE49-F238E27FC236}">
                <a16:creationId xmlns:a16="http://schemas.microsoft.com/office/drawing/2014/main" id="{5EF77D85-C631-4936-9E58-4622738D85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84766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6550D826-74F8-2E90-AC4B-7F1E6E1A390D}"/>
            </a:ext>
          </a:extLst>
        </p:cNvPr>
        <p:cNvGrpSpPr/>
        <p:nvPr/>
      </p:nvGrpSpPr>
      <p:grpSpPr>
        <a:xfrm>
          <a:off x="0" y="0"/>
          <a:ext cx="0" cy="0"/>
          <a:chOff x="0" y="0"/>
          <a:chExt cx="0" cy="0"/>
        </a:xfrm>
      </p:grpSpPr>
      <p:sp>
        <p:nvSpPr>
          <p:cNvPr id="86" name="Google Shape;86;g36e7cf68d7d_0_147:notes">
            <a:extLst>
              <a:ext uri="{FF2B5EF4-FFF2-40B4-BE49-F238E27FC236}">
                <a16:creationId xmlns:a16="http://schemas.microsoft.com/office/drawing/2014/main" id="{E6E11921-D53C-66BB-5D16-331033CDE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6e7cf68d7d_0_147:notes">
            <a:extLst>
              <a:ext uri="{FF2B5EF4-FFF2-40B4-BE49-F238E27FC236}">
                <a16:creationId xmlns:a16="http://schemas.microsoft.com/office/drawing/2014/main" id="{60E643A6-B8C0-9605-DFC5-56178CC997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6046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755650" y="0"/>
            <a:ext cx="5950761"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706411" y="0"/>
            <a:ext cx="20574"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958856" y="2571749"/>
            <a:ext cx="4138550" cy="1701419"/>
          </a:xfrm>
        </p:spPr>
        <p:txBody>
          <a:bodyPr anchor="t">
            <a:normAutofit/>
          </a:bodyPr>
          <a:lstStyle>
            <a:lvl1pPr algn="r">
              <a:defRPr sz="4500"/>
            </a:lvl1pPr>
          </a:lstStyle>
          <a:p>
            <a:r>
              <a:rPr lang="en-US"/>
              <a:t>Click to edit Master title style</a:t>
            </a:r>
            <a:endParaRPr lang="en-US" dirty="0"/>
          </a:p>
        </p:txBody>
      </p:sp>
      <p:sp>
        <p:nvSpPr>
          <p:cNvPr id="3" name="Subtitle 2"/>
          <p:cNvSpPr>
            <a:spLocks noGrp="1"/>
          </p:cNvSpPr>
          <p:nvPr>
            <p:ph type="subTitle" idx="1"/>
          </p:nvPr>
        </p:nvSpPr>
        <p:spPr>
          <a:xfrm>
            <a:off x="2079205" y="1701590"/>
            <a:ext cx="4018200" cy="870160"/>
          </a:xfrm>
        </p:spPr>
        <p:txBody>
          <a:bodyPr tIns="0" anchor="b">
            <a:normAutofit/>
          </a:bodyPr>
          <a:lstStyle>
            <a:lvl1pPr marL="0" indent="0" algn="r">
              <a:buNone/>
              <a:defRPr sz="1350" b="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smtClean="0"/>
              <a:t>5/21/26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rIns="45720"/>
          <a:lstStyle/>
          <a:p>
            <a:pPr marL="0" lvl="0" indent="0" algn="r" rtl="0">
              <a:spcBef>
                <a:spcPts val="0"/>
              </a:spcBef>
              <a:spcAft>
                <a:spcPts val="0"/>
              </a:spcAft>
              <a:buNone/>
            </a:pPr>
            <a:fld id="{00000000-1234-1234-1234-123412341234}" type="slidenum">
              <a:rPr lang="en" smtClean="0"/>
              <a:t>‹#›</a:t>
            </a:fld>
            <a:endParaRPr lang="en"/>
          </a:p>
        </p:txBody>
      </p:sp>
      <p:sp>
        <p:nvSpPr>
          <p:cNvPr id="13" name="TextBox 12"/>
          <p:cNvSpPr txBox="1"/>
          <p:nvPr/>
        </p:nvSpPr>
        <p:spPr>
          <a:xfrm>
            <a:off x="1643462" y="2447139"/>
            <a:ext cx="311727"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8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65938814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753359"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8532996" y="0"/>
            <a:ext cx="20574"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smtClean="0"/>
              <a:t>5/21/26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7" name="TextBox 6"/>
          <p:cNvSpPr txBox="1"/>
          <p:nvPr/>
        </p:nvSpPr>
        <p:spPr>
          <a:xfrm>
            <a:off x="1646207" y="480919"/>
            <a:ext cx="311727" cy="300082"/>
          </a:xfrm>
          <a:prstGeom prst="rect">
            <a:avLst/>
          </a:prstGeom>
          <a:noFill/>
        </p:spPr>
        <p:txBody>
          <a:bodyPr wrap="square" rtlCol="0">
            <a:spAutoFit/>
          </a:bodyPr>
          <a:lstStyle/>
          <a:p>
            <a:pPr algn="r"/>
            <a:r>
              <a:rPr lang="en-US" sz="1350" dirty="0">
                <a:solidFill>
                  <a:schemeClr val="accent6"/>
                </a:solidFill>
                <a:latin typeface="Wingdings 3" panose="05040102010807070707" pitchFamily="18" charset="2"/>
              </a:rPr>
              <a:t>z</a:t>
            </a:r>
            <a:endParaRPr lang="en-US" sz="75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28742966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753359"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8532996" y="0"/>
            <a:ext cx="20574"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1643882" y="2221939"/>
            <a:ext cx="311727" cy="300082"/>
          </a:xfrm>
          <a:prstGeom prst="rect">
            <a:avLst/>
          </a:prstGeom>
          <a:noFill/>
        </p:spPr>
        <p:txBody>
          <a:bodyPr wrap="square" rtlCol="0">
            <a:spAutoFit/>
          </a:bodyPr>
          <a:lstStyle/>
          <a:p>
            <a:pPr algn="r"/>
            <a:r>
              <a:rPr lang="en-US" sz="1350" dirty="0">
                <a:solidFill>
                  <a:schemeClr val="accent6"/>
                </a:solidFill>
                <a:latin typeface="Wingdings 3" panose="05040102010807070707" pitchFamily="18" charset="2"/>
              </a:rPr>
              <a:t>z</a:t>
            </a:r>
            <a:endParaRPr lang="en-US" sz="75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57405" y="2360440"/>
            <a:ext cx="5967420" cy="1068560"/>
          </a:xfrm>
        </p:spPr>
        <p:txBody>
          <a:bodyPr anchor="t">
            <a:normAutofit/>
          </a:bodyPr>
          <a:lstStyle>
            <a:lvl1pPr algn="r">
              <a:defRPr sz="2400"/>
            </a:lvl1pPr>
          </a:lstStyle>
          <a:p>
            <a:r>
              <a:rPr lang="en-US"/>
              <a:t>Click to edit Master title style</a:t>
            </a:r>
            <a:endParaRPr lang="en-US" dirty="0"/>
          </a:p>
        </p:txBody>
      </p:sp>
      <p:sp>
        <p:nvSpPr>
          <p:cNvPr id="3" name="Text Placeholder 2"/>
          <p:cNvSpPr>
            <a:spLocks noGrp="1"/>
          </p:cNvSpPr>
          <p:nvPr>
            <p:ph type="body" idx="1"/>
          </p:nvPr>
        </p:nvSpPr>
        <p:spPr>
          <a:xfrm>
            <a:off x="2080477" y="1701590"/>
            <a:ext cx="5843948" cy="658851"/>
          </a:xfrm>
        </p:spPr>
        <p:txBody>
          <a:bodyPr tIns="0" anchor="b">
            <a:normAutofit/>
          </a:bodyPr>
          <a:lstStyle>
            <a:lvl1pPr marL="0" indent="0" algn="r">
              <a:buNone/>
              <a:defRPr sz="1350">
                <a:solidFill>
                  <a:schemeClr val="tx1"/>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smtClean="0"/>
              <a:t>5/21/26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79822263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753359"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8532996" y="0"/>
            <a:ext cx="20574"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957405" y="604363"/>
            <a:ext cx="5963238" cy="81127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954031" y="1539087"/>
            <a:ext cx="2918970" cy="2998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99977" y="1539086"/>
            <a:ext cx="2920667" cy="2998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smtClean="0"/>
              <a:t>5/21/26</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10" name="TextBox 9"/>
          <p:cNvSpPr txBox="1"/>
          <p:nvPr/>
        </p:nvSpPr>
        <p:spPr>
          <a:xfrm>
            <a:off x="1647129" y="480917"/>
            <a:ext cx="311727" cy="300082"/>
          </a:xfrm>
          <a:prstGeom prst="rect">
            <a:avLst/>
          </a:prstGeom>
          <a:noFill/>
        </p:spPr>
        <p:txBody>
          <a:bodyPr wrap="square" rtlCol="0">
            <a:spAutoFit/>
          </a:bodyPr>
          <a:lstStyle/>
          <a:p>
            <a:pPr algn="r"/>
            <a:r>
              <a:rPr lang="en-US" sz="1350" dirty="0">
                <a:solidFill>
                  <a:schemeClr val="accent6"/>
                </a:solidFill>
                <a:latin typeface="Wingdings 3" panose="05040102010807070707" pitchFamily="18" charset="2"/>
              </a:rPr>
              <a:t>z</a:t>
            </a:r>
            <a:endParaRPr lang="en-US" sz="75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410989194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753359"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8532996" y="0"/>
            <a:ext cx="20574"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1645238" y="477318"/>
            <a:ext cx="311727" cy="300082"/>
          </a:xfrm>
          <a:prstGeom prst="rect">
            <a:avLst/>
          </a:prstGeom>
          <a:noFill/>
        </p:spPr>
        <p:txBody>
          <a:bodyPr wrap="square" rtlCol="0">
            <a:spAutoFit/>
          </a:bodyPr>
          <a:lstStyle/>
          <a:p>
            <a:pPr algn="r"/>
            <a:r>
              <a:rPr lang="en-US" sz="1350" dirty="0">
                <a:solidFill>
                  <a:schemeClr val="accent6"/>
                </a:solidFill>
                <a:latin typeface="Wingdings 3" panose="05040102010807070707" pitchFamily="18" charset="2"/>
              </a:rPr>
              <a:t>z</a:t>
            </a:r>
            <a:endParaRPr lang="en-US" sz="75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57405" y="604364"/>
            <a:ext cx="5967420" cy="8087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956964" y="1539086"/>
            <a:ext cx="2922350" cy="535364"/>
          </a:xfrm>
        </p:spPr>
        <p:txBody>
          <a:bodyPr anchor="b">
            <a:noAutofit/>
          </a:bodyPr>
          <a:lstStyle>
            <a:lvl1pPr marL="0" indent="0" algn="l">
              <a:lnSpc>
                <a:spcPct val="100000"/>
              </a:lnSpc>
              <a:buNone/>
              <a:defRPr sz="1650" b="0" cap="none" baseline="0">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956964" y="2138498"/>
            <a:ext cx="2920217" cy="2303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99975" y="1539086"/>
            <a:ext cx="2924849" cy="535364"/>
          </a:xfrm>
        </p:spPr>
        <p:txBody>
          <a:bodyPr anchor="b">
            <a:noAutofit/>
          </a:bodyPr>
          <a:lstStyle>
            <a:lvl1pPr marL="0" indent="0" algn="l">
              <a:lnSpc>
                <a:spcPct val="100000"/>
              </a:lnSpc>
              <a:buNone/>
              <a:defRPr sz="1650" b="0" cap="none" baseline="0">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999976" y="2138498"/>
            <a:ext cx="2924849" cy="2303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smtClean="0"/>
              <a:t>5/21/26</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80750754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753359"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8532996" y="0"/>
            <a:ext cx="20574"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smtClean="0"/>
              <a:t>5/21/26</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8" name="TextBox 7"/>
          <p:cNvSpPr txBox="1"/>
          <p:nvPr/>
        </p:nvSpPr>
        <p:spPr>
          <a:xfrm>
            <a:off x="1647129" y="480919"/>
            <a:ext cx="311727" cy="300082"/>
          </a:xfrm>
          <a:prstGeom prst="rect">
            <a:avLst/>
          </a:prstGeom>
          <a:noFill/>
        </p:spPr>
        <p:txBody>
          <a:bodyPr wrap="square" rtlCol="0">
            <a:spAutoFit/>
          </a:bodyPr>
          <a:lstStyle/>
          <a:p>
            <a:pPr algn="r"/>
            <a:r>
              <a:rPr lang="en-US" sz="1350" dirty="0">
                <a:solidFill>
                  <a:schemeClr val="accent6"/>
                </a:solidFill>
                <a:latin typeface="Wingdings 3" panose="05040102010807070707" pitchFamily="18" charset="2"/>
              </a:rPr>
              <a:t>z</a:t>
            </a:r>
            <a:endParaRPr lang="en-US" sz="75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15673088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753359"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p:cNvSpPr/>
          <p:nvPr/>
        </p:nvSpPr>
        <p:spPr>
          <a:xfrm>
            <a:off x="8532996" y="0"/>
            <a:ext cx="20574"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Date Placeholder 1"/>
          <p:cNvSpPr>
            <a:spLocks noGrp="1"/>
          </p:cNvSpPr>
          <p:nvPr>
            <p:ph type="dt" sz="half" idx="10"/>
          </p:nvPr>
        </p:nvSpPr>
        <p:spPr/>
        <p:txBody>
          <a:bodyPr/>
          <a:lstStyle/>
          <a:p>
            <a:fld id="{921D9284-D300-4297-87F7-E791DCC15DB1}" type="datetimeFigureOut">
              <a:rPr lang="en-US" smtClean="0"/>
              <a:t>5/21/26</a:t>
            </a:fld>
            <a:endParaRPr lang="en-US" dirty="0"/>
          </a:p>
        </p:txBody>
      </p:sp>
      <p:sp>
        <p:nvSpPr>
          <p:cNvPr id="3" name="Footer Placeholder 2"/>
          <p:cNvSpPr>
            <a:spLocks noGrp="1"/>
          </p:cNvSpPr>
          <p:nvPr>
            <p:ph type="ftr" sz="quarter" idx="11"/>
          </p:nvPr>
        </p:nvSpPr>
        <p:spPr/>
        <p:txBody>
          <a:bodyPr/>
          <a:lstStyle/>
          <a:p>
            <a:r>
              <a:rPr lang="en-US"/>
              <a:t>
              </a:t>
            </a:r>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431211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753359"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8532996" y="0"/>
            <a:ext cx="20574"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165616" y="845662"/>
            <a:ext cx="311727" cy="300082"/>
          </a:xfrm>
          <a:prstGeom prst="rect">
            <a:avLst/>
          </a:prstGeom>
          <a:noFill/>
        </p:spPr>
        <p:txBody>
          <a:bodyPr wrap="square" rtlCol="0">
            <a:spAutoFit/>
          </a:bodyPr>
          <a:lstStyle/>
          <a:p>
            <a:pPr algn="r"/>
            <a:r>
              <a:rPr lang="en-US" sz="1350" dirty="0">
                <a:solidFill>
                  <a:schemeClr val="accent6"/>
                </a:solidFill>
                <a:latin typeface="Wingdings 3" panose="05040102010807070707" pitchFamily="18" charset="2"/>
              </a:rPr>
              <a:t>z</a:t>
            </a:r>
            <a:endParaRPr lang="en-US" sz="75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477743" y="961838"/>
            <a:ext cx="1998271" cy="1427431"/>
          </a:xfrm>
        </p:spPr>
        <p:txBody>
          <a:bodyPr anchor="b">
            <a:normAutofit/>
          </a:bodyPr>
          <a:lstStyle>
            <a:lvl1pPr algn="l">
              <a:defRPr sz="1800"/>
            </a:lvl1pPr>
          </a:lstStyle>
          <a:p>
            <a:r>
              <a:rPr lang="en-US"/>
              <a:t>Click to edit Master title style</a:t>
            </a:r>
            <a:endParaRPr lang="en-US" dirty="0"/>
          </a:p>
        </p:txBody>
      </p:sp>
      <p:sp>
        <p:nvSpPr>
          <p:cNvPr id="3" name="Content Placeholder 2"/>
          <p:cNvSpPr>
            <a:spLocks noGrp="1"/>
          </p:cNvSpPr>
          <p:nvPr>
            <p:ph idx="1"/>
          </p:nvPr>
        </p:nvSpPr>
        <p:spPr>
          <a:xfrm>
            <a:off x="3840115" y="604363"/>
            <a:ext cx="4084709" cy="393309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77742" y="2389616"/>
            <a:ext cx="1998271" cy="1789798"/>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smtClean="0"/>
              <a:t>5/21/26</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23213860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753359"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8532996" y="0"/>
            <a:ext cx="20574"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5060296" y="2422"/>
            <a:ext cx="3472301" cy="51435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1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10" name="TextBox 9"/>
          <p:cNvSpPr txBox="1"/>
          <p:nvPr/>
        </p:nvSpPr>
        <p:spPr>
          <a:xfrm>
            <a:off x="1166015" y="845662"/>
            <a:ext cx="311727" cy="300082"/>
          </a:xfrm>
          <a:prstGeom prst="rect">
            <a:avLst/>
          </a:prstGeom>
          <a:noFill/>
        </p:spPr>
        <p:txBody>
          <a:bodyPr wrap="square" rtlCol="0">
            <a:spAutoFit/>
          </a:bodyPr>
          <a:lstStyle/>
          <a:p>
            <a:pPr algn="r"/>
            <a:r>
              <a:rPr lang="en-US" sz="1350" dirty="0">
                <a:solidFill>
                  <a:schemeClr val="accent6"/>
                </a:solidFill>
                <a:latin typeface="Wingdings 3" panose="05040102010807070707" pitchFamily="18" charset="2"/>
              </a:rPr>
              <a:t>z</a:t>
            </a:r>
            <a:endParaRPr lang="en-US" sz="75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478430" y="961839"/>
            <a:ext cx="2978240" cy="1425355"/>
          </a:xfrm>
        </p:spPr>
        <p:txBody>
          <a:bodyPr anchor="b">
            <a:normAutofit/>
          </a:bodyPr>
          <a:lstStyle>
            <a:lvl1pPr algn="l">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1477741" y="2387196"/>
            <a:ext cx="2978906" cy="1789796"/>
          </a:xfrm>
        </p:spPr>
        <p:txBody>
          <a:bodyPr>
            <a:normAutofit/>
          </a:bodyPr>
          <a:lstStyle>
            <a:lvl1pPr marL="0" indent="0" algn="l">
              <a:buNone/>
              <a:defRPr sz="15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smtClean="0"/>
              <a:t>5/21/26</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7907273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753359"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8532996" y="0"/>
            <a:ext cx="20574"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1645677" y="480919"/>
            <a:ext cx="311727" cy="300082"/>
          </a:xfrm>
          <a:prstGeom prst="rect">
            <a:avLst/>
          </a:prstGeom>
          <a:noFill/>
        </p:spPr>
        <p:txBody>
          <a:bodyPr wrap="square" rtlCol="0">
            <a:spAutoFit/>
          </a:bodyPr>
          <a:lstStyle/>
          <a:p>
            <a:pPr algn="r"/>
            <a:r>
              <a:rPr lang="en-US" sz="1350" dirty="0">
                <a:solidFill>
                  <a:schemeClr val="accent6"/>
                </a:solidFill>
                <a:latin typeface="Wingdings 3" panose="05040102010807070707" pitchFamily="18" charset="2"/>
              </a:rPr>
              <a:t>z</a:t>
            </a:r>
            <a:endParaRPr lang="en-US" sz="75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58857" y="606042"/>
            <a:ext cx="5965568" cy="807922"/>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smtClean="0"/>
              <a:t>5/21/26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22686028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753359"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8532996" y="0"/>
            <a:ext cx="20574"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7752856" y="300504"/>
            <a:ext cx="311727" cy="300082"/>
          </a:xfrm>
          <a:prstGeom prst="rect">
            <a:avLst/>
          </a:prstGeom>
          <a:noFill/>
        </p:spPr>
        <p:txBody>
          <a:bodyPr wrap="square" rtlCol="0">
            <a:spAutoFit/>
          </a:bodyPr>
          <a:lstStyle/>
          <a:p>
            <a:pPr algn="r"/>
            <a:r>
              <a:rPr lang="en-US" sz="1350" dirty="0">
                <a:solidFill>
                  <a:schemeClr val="accent6"/>
                </a:solidFill>
                <a:latin typeface="Wingdings 3" panose="05040102010807070707" pitchFamily="18" charset="2"/>
              </a:rPr>
              <a:t>z</a:t>
            </a:r>
            <a:endParaRPr lang="en-US" sz="75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6929536" y="604363"/>
            <a:ext cx="994889" cy="393309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956564" y="727807"/>
            <a:ext cx="4850177" cy="38096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smtClean="0"/>
              <a:t>5/21/26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20840581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2">
  <p:cSld name="Title slide 2">
    <p:spTree>
      <p:nvGrpSpPr>
        <p:cNvPr id="1" name="Shape 52"/>
        <p:cNvGrpSpPr/>
        <p:nvPr/>
      </p:nvGrpSpPr>
      <p:grpSpPr>
        <a:xfrm>
          <a:off x="0" y="0"/>
          <a:ext cx="0" cy="0"/>
          <a:chOff x="0" y="0"/>
          <a:chExt cx="0" cy="0"/>
        </a:xfrm>
      </p:grpSpPr>
      <p:sp>
        <p:nvSpPr>
          <p:cNvPr id="53" name="Google Shape;53;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216263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123846" y="1578901"/>
            <a:ext cx="7020154" cy="3564599"/>
          </a:xfrm>
          <a:prstGeom prst="rect">
            <a:avLst/>
          </a:prstGeom>
        </p:spPr>
      </p:pic>
      <p:pic>
        <p:nvPicPr>
          <p:cNvPr id="15" name="Picture 14"/>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 y="0"/>
            <a:ext cx="9142400" cy="5143500"/>
          </a:xfrm>
          <a:prstGeom prst="rect">
            <a:avLst/>
          </a:prstGeom>
        </p:spPr>
      </p:pic>
      <p:sp>
        <p:nvSpPr>
          <p:cNvPr id="8" name="Rectangle 7"/>
          <p:cNvSpPr/>
          <p:nvPr/>
        </p:nvSpPr>
        <p:spPr>
          <a:xfrm>
            <a:off x="0" y="0"/>
            <a:ext cx="723131"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958857" y="606042"/>
            <a:ext cx="5968748" cy="80792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080199" y="1539087"/>
            <a:ext cx="5847405" cy="299837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607549" y="3952953"/>
            <a:ext cx="1997047" cy="137160"/>
          </a:xfrm>
          <a:prstGeom prst="rect">
            <a:avLst/>
          </a:prstGeom>
        </p:spPr>
        <p:txBody>
          <a:bodyPr vert="horz" lIns="91440" tIns="18288" rIns="91440" bIns="45720" rtlCol="0" anchor="t"/>
          <a:lstStyle>
            <a:lvl1pPr algn="r">
              <a:defRPr sz="600">
                <a:solidFill>
                  <a:schemeClr val="tx1">
                    <a:tint val="75000"/>
                  </a:schemeClr>
                </a:solidFill>
                <a:latin typeface="+mn-lt"/>
              </a:defRPr>
            </a:lvl1pPr>
          </a:lstStyle>
          <a:p>
            <a:fld id="{3CBC1C18-307B-4F68-A007-B5B542270E8D}" type="datetimeFigureOut">
              <a:rPr lang="en-US" dirty="0"/>
              <a:t>5/21/26</a:t>
            </a:fld>
            <a:endParaRPr lang="en-US" dirty="0"/>
          </a:p>
        </p:txBody>
      </p:sp>
      <p:sp>
        <p:nvSpPr>
          <p:cNvPr id="5" name="Footer Placeholder 4"/>
          <p:cNvSpPr>
            <a:spLocks noGrp="1"/>
          </p:cNvSpPr>
          <p:nvPr>
            <p:ph type="ftr" sz="quarter" idx="3"/>
          </p:nvPr>
        </p:nvSpPr>
        <p:spPr>
          <a:xfrm rot="5400000">
            <a:off x="-1677848" y="2745858"/>
            <a:ext cx="4414014" cy="134382"/>
          </a:xfrm>
          <a:prstGeom prst="rect">
            <a:avLst/>
          </a:prstGeom>
        </p:spPr>
        <p:txBody>
          <a:bodyPr vert="horz" lIns="91440" tIns="45720" rIns="91440" bIns="18288" rtlCol="0" anchor="b"/>
          <a:lstStyle>
            <a:lvl1pPr algn="r">
              <a:defRPr sz="6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18806" y="123445"/>
            <a:ext cx="477545" cy="242138"/>
          </a:xfrm>
          <a:prstGeom prst="rect">
            <a:avLst/>
          </a:prstGeom>
        </p:spPr>
        <p:txBody>
          <a:bodyPr vert="horz" lIns="91440" tIns="45720" rIns="45720" bIns="45720" rtlCol="0" anchor="ctr"/>
          <a:lstStyle>
            <a:lvl1pPr algn="r">
              <a:defRPr sz="1350">
                <a:solidFill>
                  <a:schemeClr val="tx1">
                    <a:tint val="75000"/>
                  </a:schemeClr>
                </a:solidFill>
              </a:defRPr>
            </a:lvl1pPr>
          </a:lstStyle>
          <a:p>
            <a:pPr marL="0" lvl="0" indent="0" algn="r" rtl="0">
              <a:spcBef>
                <a:spcPts val="0"/>
              </a:spcBef>
              <a:spcAft>
                <a:spcPts val="0"/>
              </a:spcAft>
              <a:buNone/>
            </a:pPr>
            <a:fld id="{00000000-1234-1234-1234-123412341234}" type="slidenum">
              <a:rPr lang="en" smtClean="0"/>
              <a:t>‹#›</a:t>
            </a:fld>
            <a:endParaRPr lang="en"/>
          </a:p>
        </p:txBody>
      </p:sp>
      <p:sp>
        <p:nvSpPr>
          <p:cNvPr id="57" name="Rectangle 56"/>
          <p:cNvSpPr/>
          <p:nvPr/>
        </p:nvSpPr>
        <p:spPr>
          <a:xfrm>
            <a:off x="721532"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015698572"/>
      </p:ext>
    </p:extLst>
  </p:cSld>
  <p:clrMap bg1="dk1" tx1="lt1" bg2="dk2" tx2="lt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Lst>
  <p:hf sldNum="0" hdr="0" ftr="0" dt="0"/>
  <p:txStyles>
    <p:titleStyle>
      <a:lvl1pPr algn="r" defTabSz="685800" rtl="0" eaLnBrk="1" latinLnBrk="0" hangingPunct="1">
        <a:lnSpc>
          <a:spcPct val="90000"/>
        </a:lnSpc>
        <a:spcBef>
          <a:spcPct val="0"/>
        </a:spcBef>
        <a:buNone/>
        <a:defRPr sz="2550" b="0" i="0" kern="1200" cap="none">
          <a:solidFill>
            <a:schemeClr val="tx1"/>
          </a:solidFill>
          <a:effectLst/>
          <a:latin typeface="+mj-lt"/>
          <a:ea typeface="+mj-ea"/>
          <a:cs typeface="+mj-cs"/>
        </a:defRPr>
      </a:lvl1pPr>
    </p:titleStyle>
    <p:bodyStyle>
      <a:lvl1pPr marL="258366" indent="-258366" algn="l" defTabSz="685800" rtl="0" eaLnBrk="1" latinLnBrk="0" hangingPunct="1">
        <a:lnSpc>
          <a:spcPct val="120000"/>
        </a:lnSpc>
        <a:spcBef>
          <a:spcPts val="750"/>
        </a:spcBef>
        <a:spcAft>
          <a:spcPts val="450"/>
        </a:spcAft>
        <a:buClr>
          <a:schemeClr val="accent6"/>
        </a:buClr>
        <a:buSzPct val="90000"/>
        <a:buFont typeface="Wingdings" panose="05000000000000000000" pitchFamily="2" charset="2"/>
        <a:buChar char="§"/>
        <a:defRPr sz="1500" kern="1200">
          <a:solidFill>
            <a:schemeClr val="tx1"/>
          </a:solidFill>
          <a:effectLst/>
          <a:latin typeface="+mn-lt"/>
          <a:ea typeface="+mn-ea"/>
          <a:cs typeface="+mn-cs"/>
        </a:defRPr>
      </a:lvl1pPr>
      <a:lvl2pPr marL="596504" indent="-253604"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350" kern="1200">
          <a:solidFill>
            <a:schemeClr val="tx1"/>
          </a:solidFill>
          <a:effectLst/>
          <a:latin typeface="+mn-lt"/>
          <a:ea typeface="+mn-ea"/>
          <a:cs typeface="+mn-cs"/>
        </a:defRPr>
      </a:lvl2pPr>
      <a:lvl3pPr marL="944166" indent="-258366"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3pPr>
      <a:lvl4pPr marL="1282304" indent="-253604"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050" kern="1200">
          <a:solidFill>
            <a:schemeClr val="tx1"/>
          </a:solidFill>
          <a:effectLst/>
          <a:latin typeface="+mn-lt"/>
          <a:ea typeface="+mn-ea"/>
          <a:cs typeface="+mn-cs"/>
        </a:defRPr>
      </a:lvl4pPr>
      <a:lvl5pPr marL="1629966" indent="-258366"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900" kern="1200">
          <a:solidFill>
            <a:schemeClr val="tx1"/>
          </a:solidFill>
          <a:effectLst/>
          <a:latin typeface="+mn-lt"/>
          <a:ea typeface="+mn-ea"/>
          <a:cs typeface="+mn-cs"/>
        </a:defRPr>
      </a:lvl5pPr>
      <a:lvl6pPr marL="1981962" indent="-253746"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900" kern="1200" baseline="0">
          <a:solidFill>
            <a:schemeClr val="tx1"/>
          </a:solidFill>
          <a:effectLst/>
          <a:latin typeface="+mn-lt"/>
          <a:ea typeface="+mn-ea"/>
          <a:cs typeface="+mn-cs"/>
        </a:defRPr>
      </a:lvl6pPr>
      <a:lvl7pPr marL="2331720" indent="-253746"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900" kern="1200" baseline="0">
          <a:solidFill>
            <a:schemeClr val="tx1"/>
          </a:solidFill>
          <a:effectLst/>
          <a:latin typeface="+mn-lt"/>
          <a:ea typeface="+mn-ea"/>
          <a:cs typeface="+mn-cs"/>
        </a:defRPr>
      </a:lvl7pPr>
      <a:lvl8pPr marL="2681478" indent="-253746"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900" kern="1200" baseline="0">
          <a:solidFill>
            <a:schemeClr val="tx1"/>
          </a:solidFill>
          <a:effectLst/>
          <a:latin typeface="+mn-lt"/>
          <a:ea typeface="+mn-ea"/>
          <a:cs typeface="+mn-cs"/>
        </a:defRPr>
      </a:lvl8pPr>
      <a:lvl9pPr marL="3031236" indent="-253746"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9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Shape 81"/>
        <p:cNvGrpSpPr/>
        <p:nvPr/>
      </p:nvGrpSpPr>
      <p:grpSpPr>
        <a:xfrm>
          <a:off x="0" y="0"/>
          <a:ext cx="0" cy="0"/>
          <a:chOff x="0" y="0"/>
          <a:chExt cx="0" cy="0"/>
        </a:xfrm>
      </p:grpSpPr>
      <p:sp>
        <p:nvSpPr>
          <p:cNvPr id="82" name="Google Shape;82;p28"/>
          <p:cNvSpPr txBox="1">
            <a:spLocks noGrp="1"/>
          </p:cNvSpPr>
          <p:nvPr>
            <p:ph type="ctrTitle" idx="4294967295"/>
          </p:nvPr>
        </p:nvSpPr>
        <p:spPr>
          <a:xfrm>
            <a:off x="718456" y="983797"/>
            <a:ext cx="7919705" cy="2706688"/>
          </a:xfrm>
          <a:prstGeom prst="rect">
            <a:avLst/>
          </a:prstGeom>
        </p:spPr>
        <p:txBody>
          <a:bodyPr spcFirstLastPara="1" vert="horz" lIns="91440" tIns="45720" rIns="91440" bIns="45720" rtlCol="0" anchor="t" anchorCtr="0">
            <a:normAutofit/>
          </a:bodyPr>
          <a:lstStyle/>
          <a:p>
            <a:pPr marL="0" lvl="0" indent="0" algn="l" defTabSz="914400">
              <a:spcAft>
                <a:spcPts val="0"/>
              </a:spcAft>
            </a:pPr>
            <a:r>
              <a:rPr lang="en-US" sz="4800" b="1" dirty="0">
                <a:solidFill>
                  <a:schemeClr val="bg1"/>
                </a:solidFill>
              </a:rPr>
              <a:t>AI-Powered Rate Confirmation Processing Automation</a:t>
            </a:r>
            <a:endParaRPr lang="en-US" sz="4700" b="1" dirty="0">
              <a:solidFill>
                <a:schemeClr val="bg1"/>
              </a:solidFill>
              <a:sym typeface="Inter ExtraBold"/>
            </a:endParaRPr>
          </a:p>
        </p:txBody>
      </p:sp>
      <p:sp>
        <p:nvSpPr>
          <p:cNvPr id="84" name="Google Shape;84;p28"/>
          <p:cNvSpPr txBox="1">
            <a:spLocks noGrp="1"/>
          </p:cNvSpPr>
          <p:nvPr>
            <p:ph type="subTitle" idx="4294967295"/>
          </p:nvPr>
        </p:nvSpPr>
        <p:spPr>
          <a:xfrm>
            <a:off x="718456" y="2872152"/>
            <a:ext cx="5797416" cy="721895"/>
          </a:xfrm>
          <a:prstGeom prst="rect">
            <a:avLst/>
          </a:prstGeom>
        </p:spPr>
        <p:txBody>
          <a:bodyPr spcFirstLastPara="1" vert="horz" lIns="91440" tIns="0" rIns="91440" bIns="45720" rtlCol="0" anchor="b" anchorCtr="0">
            <a:noAutofit/>
          </a:bodyPr>
          <a:lstStyle/>
          <a:p>
            <a:pPr marL="0" lvl="0" indent="0" defTabSz="914400">
              <a:spcBef>
                <a:spcPts val="1000"/>
              </a:spcBef>
              <a:spcAft>
                <a:spcPts val="600"/>
              </a:spcAft>
              <a:buNone/>
            </a:pPr>
            <a:r>
              <a:rPr lang="en-US" sz="1400" dirty="0"/>
              <a:t>UiPath • Document Understanding • AI Workflow Automation </a:t>
            </a:r>
          </a:p>
        </p:txBody>
      </p:sp>
      <p:sp>
        <p:nvSpPr>
          <p:cNvPr id="2" name="TextBox 1">
            <a:extLst>
              <a:ext uri="{FF2B5EF4-FFF2-40B4-BE49-F238E27FC236}">
                <a16:creationId xmlns:a16="http://schemas.microsoft.com/office/drawing/2014/main" id="{CBEF5360-B5D9-0A9F-E0F5-C60AF86E8C0A}"/>
              </a:ext>
            </a:extLst>
          </p:cNvPr>
          <p:cNvSpPr txBox="1"/>
          <p:nvPr/>
        </p:nvSpPr>
        <p:spPr>
          <a:xfrm>
            <a:off x="4114800" y="2115766"/>
            <a:ext cx="914400" cy="914400"/>
          </a:xfrm>
          <a:prstGeom prst="rect">
            <a:avLst/>
          </a:prstGeom>
          <a:noFill/>
        </p:spPr>
        <p:txBody>
          <a:bodyPr wrap="square" rtlCol="0">
            <a:spAutoFit/>
          </a:bodyPr>
          <a:lstStyle/>
          <a:p>
            <a:endParaRPr lang="en-US" dirty="0"/>
          </a:p>
        </p:txBody>
      </p:sp>
      <p:sp>
        <p:nvSpPr>
          <p:cNvPr id="3" name="TextBox 2">
            <a:extLst>
              <a:ext uri="{FF2B5EF4-FFF2-40B4-BE49-F238E27FC236}">
                <a16:creationId xmlns:a16="http://schemas.microsoft.com/office/drawing/2014/main" id="{71DD6096-F176-A4ED-BF2B-57BE9E339BCF}"/>
              </a:ext>
            </a:extLst>
          </p:cNvPr>
          <p:cNvSpPr txBox="1"/>
          <p:nvPr/>
        </p:nvSpPr>
        <p:spPr>
          <a:xfrm>
            <a:off x="718456" y="4254366"/>
            <a:ext cx="1655545" cy="392415"/>
          </a:xfrm>
          <a:prstGeom prst="rect">
            <a:avLst/>
          </a:prstGeom>
          <a:noFill/>
        </p:spPr>
        <p:txBody>
          <a:bodyPr wrap="square" rtlCol="0">
            <a:spAutoFit/>
          </a:bodyPr>
          <a:lstStyle/>
          <a:p>
            <a:r>
              <a:rPr lang="en-US" sz="900" dirty="0">
                <a:solidFill>
                  <a:schemeClr val="tx1"/>
                </a:solidFill>
              </a:rPr>
              <a:t>Maryna Khlynina</a:t>
            </a:r>
            <a:endParaRPr lang="en-US" sz="900" dirty="0">
              <a:solidFill>
                <a:schemeClr val="tx1"/>
              </a:solidFill>
              <a:sym typeface="Inter Medium"/>
            </a:endParaRPr>
          </a:p>
          <a:p>
            <a:endParaRPr lang="en-US" sz="10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82"/>
                                        </p:tgtEl>
                                        <p:attrNameLst>
                                          <p:attrName>style.visibility</p:attrName>
                                        </p:attrNameLst>
                                      </p:cBhvr>
                                      <p:to>
                                        <p:strVal val="visible"/>
                                      </p:to>
                                    </p:set>
                                    <p:animEffect transition="in" filter="fade">
                                      <p:cBhvr>
                                        <p:cTn id="7" dur="1000"/>
                                        <p:tgtEl>
                                          <p:spTgt spid="8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84">
                                            <p:txEl>
                                              <p:pRg st="0" end="0"/>
                                            </p:txEl>
                                          </p:spTgt>
                                        </p:tgtEl>
                                        <p:attrNameLst>
                                          <p:attrName>style.visibility</p:attrName>
                                        </p:attrNameLst>
                                      </p:cBhvr>
                                      <p:to>
                                        <p:strVal val="visible"/>
                                      </p:to>
                                    </p:set>
                                    <p:animEffect transition="in" filter="fade">
                                      <p:cBhvr>
                                        <p:cTn id="10" dur="1000"/>
                                        <p:tgtEl>
                                          <p:spTgt spid="8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P spid="8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8">
          <a:extLst>
            <a:ext uri="{FF2B5EF4-FFF2-40B4-BE49-F238E27FC236}">
              <a16:creationId xmlns:a16="http://schemas.microsoft.com/office/drawing/2014/main" id="{126F44D3-2B03-CBD1-7BA1-8B0F3198EC38}"/>
            </a:ext>
          </a:extLst>
        </p:cNvPr>
        <p:cNvGrpSpPr/>
        <p:nvPr/>
      </p:nvGrpSpPr>
      <p:grpSpPr>
        <a:xfrm>
          <a:off x="0" y="0"/>
          <a:ext cx="0" cy="0"/>
          <a:chOff x="0" y="0"/>
          <a:chExt cx="0" cy="0"/>
        </a:xfrm>
      </p:grpSpPr>
      <p:pic>
        <p:nvPicPr>
          <p:cNvPr id="119" name="Picture 118">
            <a:extLst>
              <a:ext uri="{FF2B5EF4-FFF2-40B4-BE49-F238E27FC236}">
                <a16:creationId xmlns:a16="http://schemas.microsoft.com/office/drawing/2014/main" id="{3DBBA26C-89C3-411F-9753-606A413F89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1578901"/>
            <a:ext cx="7020154" cy="3564599"/>
          </a:xfrm>
          <a:prstGeom prst="rect">
            <a:avLst/>
          </a:prstGeom>
        </p:spPr>
      </p:pic>
      <p:pic>
        <p:nvPicPr>
          <p:cNvPr id="120" name="Picture 119">
            <a:extLst>
              <a:ext uri="{FF2B5EF4-FFF2-40B4-BE49-F238E27FC236}">
                <a16:creationId xmlns:a16="http://schemas.microsoft.com/office/drawing/2014/main" id="{EEAD2215-6311-4D1C-B6B5-F57CB6BFCBC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p:nvSpPr>
          <p:cNvPr id="121" name="Rectangle 120">
            <a:extLst>
              <a:ext uri="{FF2B5EF4-FFF2-40B4-BE49-F238E27FC236}">
                <a16:creationId xmlns:a16="http://schemas.microsoft.com/office/drawing/2014/main" id="{7BA5DE79-30D1-4A10-8DB9-0A6E523A97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2" name="Rectangle 121">
            <a:extLst>
              <a:ext uri="{FF2B5EF4-FFF2-40B4-BE49-F238E27FC236}">
                <a16:creationId xmlns:a16="http://schemas.microsoft.com/office/drawing/2014/main" id="{9ABD0D63-D23F-4AE7-8270-4185EF9C1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3" name="Rectangle 122">
            <a:extLst>
              <a:ext uri="{FF2B5EF4-FFF2-40B4-BE49-F238E27FC236}">
                <a16:creationId xmlns:a16="http://schemas.microsoft.com/office/drawing/2014/main" id="{D5B0B43F-2CE7-4C6C-BABC-EE342B3282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4" name="Rectangle 123">
            <a:extLst>
              <a:ext uri="{FF2B5EF4-FFF2-40B4-BE49-F238E27FC236}">
                <a16:creationId xmlns:a16="http://schemas.microsoft.com/office/drawing/2014/main" id="{85459F07-63F9-48CF-B725-A873C4BC3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5" name="TextBox 124">
            <a:extLst>
              <a:ext uri="{FF2B5EF4-FFF2-40B4-BE49-F238E27FC236}">
                <a16:creationId xmlns:a16="http://schemas.microsoft.com/office/drawing/2014/main" id="{14B83E1E-DAC1-4851-84FF-D6FE1649DE0B}"/>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480918"/>
            <a:ext cx="311727" cy="276999"/>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126" name="Rectangle 125">
            <a:extLst>
              <a:ext uri="{FF2B5EF4-FFF2-40B4-BE49-F238E27FC236}">
                <a16:creationId xmlns:a16="http://schemas.microsoft.com/office/drawing/2014/main" id="{D0BE3D13-5BE5-4B05-AFCF-2A2E059D29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a:extLst>
              <a:ext uri="{FF2B5EF4-FFF2-40B4-BE49-F238E27FC236}">
                <a16:creationId xmlns:a16="http://schemas.microsoft.com/office/drawing/2014/main" id="{76562092-3AA7-4EF0-9007-C44F879A13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8" name="Oval 127">
            <a:extLst>
              <a:ext uri="{FF2B5EF4-FFF2-40B4-BE49-F238E27FC236}">
                <a16:creationId xmlns:a16="http://schemas.microsoft.com/office/drawing/2014/main" id="{1AC85C80-0175-4214-A13D-03C224658C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27581" y="738969"/>
            <a:ext cx="1008989" cy="1008989"/>
          </a:xfrm>
          <a:prstGeom prst="ellipse">
            <a:avLst/>
          </a:prstGeom>
          <a:solidFill>
            <a:schemeClr val="accent1">
              <a:lumMod val="40000"/>
              <a:lumOff val="6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9" name="Picture 128">
            <a:extLst>
              <a:ext uri="{FF2B5EF4-FFF2-40B4-BE49-F238E27FC236}">
                <a16:creationId xmlns:a16="http://schemas.microsoft.com/office/drawing/2014/main" id="{E60B620B-3E81-4075-BC12-D4FB3E299C7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599" y="0"/>
            <a:ext cx="9142401" cy="5143500"/>
          </a:xfrm>
          <a:prstGeom prst="rect">
            <a:avLst/>
          </a:prstGeom>
        </p:spPr>
      </p:pic>
      <p:sp>
        <p:nvSpPr>
          <p:cNvPr id="89" name="Google Shape;89;p29">
            <a:extLst>
              <a:ext uri="{FF2B5EF4-FFF2-40B4-BE49-F238E27FC236}">
                <a16:creationId xmlns:a16="http://schemas.microsoft.com/office/drawing/2014/main" id="{3E5FD348-AC43-1D0B-035E-5053282A4DC2}"/>
              </a:ext>
            </a:extLst>
          </p:cNvPr>
          <p:cNvSpPr txBox="1">
            <a:spLocks noGrp="1"/>
          </p:cNvSpPr>
          <p:nvPr>
            <p:ph type="ctrTitle" idx="4294967295"/>
          </p:nvPr>
        </p:nvSpPr>
        <p:spPr>
          <a:xfrm>
            <a:off x="2232034" y="128893"/>
            <a:ext cx="5968748" cy="981047"/>
          </a:xfrm>
          <a:prstGeom prst="rect">
            <a:avLst/>
          </a:prstGeom>
        </p:spPr>
        <p:txBody>
          <a:bodyPr spcFirstLastPara="1" vert="horz" lIns="91440" tIns="45720" rIns="91440" bIns="45720" rtlCol="0" anchor="b" anchorCtr="0">
            <a:normAutofit/>
          </a:bodyPr>
          <a:lstStyle/>
          <a:p>
            <a:pPr marL="0" lvl="0" indent="0" algn="l" defTabSz="914400">
              <a:spcAft>
                <a:spcPts val="0"/>
              </a:spcAft>
              <a:buClr>
                <a:schemeClr val="dk1"/>
              </a:buClr>
              <a:buSzPts val="1100"/>
            </a:pPr>
            <a:r>
              <a:rPr lang="en-US" sz="3300" b="1" dirty="0">
                <a:solidFill>
                  <a:srgbClr val="1F2D29"/>
                </a:solidFill>
                <a:sym typeface="Inter ExtraBold"/>
              </a:rPr>
              <a:t>Business Context</a:t>
            </a:r>
          </a:p>
          <a:p>
            <a:pPr marL="0" lvl="0" indent="0" algn="l" defTabSz="914400">
              <a:spcAft>
                <a:spcPts val="0"/>
              </a:spcAft>
            </a:pPr>
            <a:endParaRPr lang="en-US" sz="3300" b="1" dirty="0">
              <a:solidFill>
                <a:srgbClr val="1F2D29"/>
              </a:solidFill>
              <a:sym typeface="Inter"/>
            </a:endParaRPr>
          </a:p>
        </p:txBody>
      </p:sp>
      <p:sp>
        <p:nvSpPr>
          <p:cNvPr id="90" name="Google Shape;90;p29">
            <a:extLst>
              <a:ext uri="{FF2B5EF4-FFF2-40B4-BE49-F238E27FC236}">
                <a16:creationId xmlns:a16="http://schemas.microsoft.com/office/drawing/2014/main" id="{8B5C780A-B404-42D8-9514-09FE593D6036}"/>
              </a:ext>
            </a:extLst>
          </p:cNvPr>
          <p:cNvSpPr txBox="1">
            <a:spLocks noGrp="1"/>
          </p:cNvSpPr>
          <p:nvPr>
            <p:ph type="subTitle" idx="4294967295"/>
          </p:nvPr>
        </p:nvSpPr>
        <p:spPr>
          <a:xfrm>
            <a:off x="2326100" y="570946"/>
            <a:ext cx="6216967" cy="4325806"/>
          </a:xfrm>
          <a:prstGeom prst="rect">
            <a:avLst/>
          </a:prstGeom>
        </p:spPr>
        <p:txBody>
          <a:bodyPr spcFirstLastPara="1" vert="horz" lIns="91440" tIns="45720" rIns="91440" bIns="45720" rtlCol="0" anchor="t" anchorCtr="0">
            <a:noAutofit/>
          </a:bodyPr>
          <a:lstStyle/>
          <a:p>
            <a:pPr marL="0" indent="0" defTabSz="914400">
              <a:lnSpc>
                <a:spcPct val="110000"/>
              </a:lnSpc>
              <a:spcAft>
                <a:spcPts val="600"/>
              </a:spcAft>
              <a:buNone/>
            </a:pPr>
            <a:r>
              <a:rPr lang="en-US" sz="1400" dirty="0">
                <a:solidFill>
                  <a:srgbClr val="1F2D29"/>
                </a:solidFill>
              </a:rPr>
              <a:t>In carrier operations, rate confirmations are received daily from brokers in varying formats and must be processed quickly to support reporting, profitability analysis, and operational decision-making.</a:t>
            </a:r>
          </a:p>
          <a:p>
            <a:pPr marL="0" indent="0">
              <a:buNone/>
            </a:pPr>
            <a:r>
              <a:rPr lang="en-US" sz="1400" b="1" dirty="0"/>
              <a:t>Operational Challenges</a:t>
            </a:r>
          </a:p>
          <a:p>
            <a:pPr>
              <a:lnSpc>
                <a:spcPct val="100000"/>
              </a:lnSpc>
              <a:spcBef>
                <a:spcPts val="150"/>
              </a:spcBef>
              <a:spcAft>
                <a:spcPts val="0"/>
              </a:spcAft>
            </a:pPr>
            <a:r>
              <a:rPr lang="en-US" sz="1400" dirty="0"/>
              <a:t>High daily volume of rate confirmations </a:t>
            </a:r>
          </a:p>
          <a:p>
            <a:pPr>
              <a:lnSpc>
                <a:spcPct val="100000"/>
              </a:lnSpc>
              <a:spcBef>
                <a:spcPts val="150"/>
              </a:spcBef>
              <a:spcAft>
                <a:spcPts val="0"/>
              </a:spcAft>
            </a:pPr>
            <a:r>
              <a:rPr lang="en-US" sz="1400" dirty="0"/>
              <a:t>Manual shipment data extraction </a:t>
            </a:r>
          </a:p>
          <a:p>
            <a:pPr>
              <a:lnSpc>
                <a:spcPct val="100000"/>
              </a:lnSpc>
              <a:spcBef>
                <a:spcPts val="150"/>
              </a:spcBef>
              <a:spcAft>
                <a:spcPts val="0"/>
              </a:spcAft>
            </a:pPr>
            <a:r>
              <a:rPr lang="en-US" sz="1400" dirty="0"/>
              <a:t>Separate mileage lookup process </a:t>
            </a:r>
          </a:p>
          <a:p>
            <a:pPr>
              <a:lnSpc>
                <a:spcPct val="100000"/>
              </a:lnSpc>
              <a:spcBef>
                <a:spcPts val="150"/>
              </a:spcBef>
              <a:spcAft>
                <a:spcPts val="0"/>
              </a:spcAft>
            </a:pPr>
            <a:r>
              <a:rPr lang="en-US" sz="1400" dirty="0"/>
              <a:t>Repetitive spreadsheet entry </a:t>
            </a:r>
          </a:p>
          <a:p>
            <a:pPr>
              <a:lnSpc>
                <a:spcPct val="100000"/>
              </a:lnSpc>
              <a:spcBef>
                <a:spcPts val="150"/>
              </a:spcBef>
              <a:spcAft>
                <a:spcPts val="0"/>
              </a:spcAft>
            </a:pPr>
            <a:r>
              <a:rPr lang="en-US" sz="1400" dirty="0"/>
              <a:t>Inconsistent broker document formats </a:t>
            </a:r>
          </a:p>
          <a:p>
            <a:pPr>
              <a:lnSpc>
                <a:spcPct val="100000"/>
              </a:lnSpc>
              <a:spcBef>
                <a:spcPts val="150"/>
              </a:spcBef>
              <a:spcAft>
                <a:spcPts val="0"/>
              </a:spcAft>
            </a:pPr>
            <a:r>
              <a:rPr lang="en-US" sz="1400" dirty="0"/>
              <a:t>Difficult to scale reporting workflows</a:t>
            </a:r>
          </a:p>
          <a:p>
            <a:pPr>
              <a:lnSpc>
                <a:spcPct val="100000"/>
              </a:lnSpc>
              <a:spcBef>
                <a:spcPts val="150"/>
              </a:spcBef>
              <a:spcAft>
                <a:spcPts val="0"/>
              </a:spcAft>
            </a:pPr>
            <a:endParaRPr lang="en-US" sz="1400" dirty="0"/>
          </a:p>
          <a:p>
            <a:pPr marL="0" indent="0">
              <a:lnSpc>
                <a:spcPct val="100000"/>
              </a:lnSpc>
              <a:spcBef>
                <a:spcPts val="150"/>
              </a:spcBef>
              <a:buNone/>
            </a:pPr>
            <a:r>
              <a:rPr lang="en-US" sz="1400" b="1" dirty="0"/>
              <a:t>Business Impact</a:t>
            </a:r>
          </a:p>
          <a:p>
            <a:pPr>
              <a:lnSpc>
                <a:spcPct val="100000"/>
              </a:lnSpc>
              <a:spcBef>
                <a:spcPts val="150"/>
              </a:spcBef>
              <a:spcAft>
                <a:spcPts val="0"/>
              </a:spcAft>
            </a:pPr>
            <a:r>
              <a:rPr lang="en-US" sz="1400" dirty="0"/>
              <a:t>~5 hours/week spent on repetitive processing </a:t>
            </a:r>
          </a:p>
          <a:p>
            <a:pPr>
              <a:lnSpc>
                <a:spcPct val="100000"/>
              </a:lnSpc>
              <a:spcBef>
                <a:spcPts val="150"/>
              </a:spcBef>
              <a:spcAft>
                <a:spcPts val="0"/>
              </a:spcAft>
            </a:pPr>
            <a:r>
              <a:rPr lang="en-US" sz="1400" dirty="0"/>
              <a:t>Increased risk of manual data errors </a:t>
            </a:r>
          </a:p>
          <a:p>
            <a:pPr>
              <a:lnSpc>
                <a:spcPct val="100000"/>
              </a:lnSpc>
              <a:spcBef>
                <a:spcPts val="150"/>
              </a:spcBef>
              <a:spcAft>
                <a:spcPts val="0"/>
              </a:spcAft>
            </a:pPr>
            <a:r>
              <a:rPr lang="en-US" sz="1400" dirty="0"/>
              <a:t>Delayed RPM and profitability reporting </a:t>
            </a:r>
          </a:p>
          <a:p>
            <a:pPr>
              <a:lnSpc>
                <a:spcPct val="100000"/>
              </a:lnSpc>
              <a:spcBef>
                <a:spcPts val="150"/>
              </a:spcBef>
              <a:spcAft>
                <a:spcPts val="0"/>
              </a:spcAft>
            </a:pPr>
            <a:r>
              <a:rPr lang="en-US" sz="1400" dirty="0"/>
              <a:t>Reduced operational visibility and scalability</a:t>
            </a:r>
          </a:p>
          <a:p>
            <a:pPr marL="0" indent="0" defTabSz="914400">
              <a:lnSpc>
                <a:spcPct val="110000"/>
              </a:lnSpc>
              <a:spcAft>
                <a:spcPts val="600"/>
              </a:spcAft>
              <a:buNone/>
            </a:pPr>
            <a:endParaRPr lang="en-US" sz="1400" dirty="0">
              <a:solidFill>
                <a:srgbClr val="1F2D29"/>
              </a:solidFill>
            </a:endParaRPr>
          </a:p>
        </p:txBody>
      </p:sp>
    </p:spTree>
    <p:extLst>
      <p:ext uri="{BB962C8B-B14F-4D97-AF65-F5344CB8AC3E}">
        <p14:creationId xmlns:p14="http://schemas.microsoft.com/office/powerpoint/2010/main" val="63604584"/>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Shape 88">
          <a:extLst>
            <a:ext uri="{FF2B5EF4-FFF2-40B4-BE49-F238E27FC236}">
              <a16:creationId xmlns:a16="http://schemas.microsoft.com/office/drawing/2014/main" id="{7EFA7033-FC0B-CD40-141A-6EF726986D3F}"/>
            </a:ext>
          </a:extLst>
        </p:cNvPr>
        <p:cNvGrpSpPr/>
        <p:nvPr/>
      </p:nvGrpSpPr>
      <p:grpSpPr>
        <a:xfrm>
          <a:off x="0" y="0"/>
          <a:ext cx="0" cy="0"/>
          <a:chOff x="0" y="0"/>
          <a:chExt cx="0" cy="0"/>
        </a:xfrm>
      </p:grpSpPr>
      <p:pic>
        <p:nvPicPr>
          <p:cNvPr id="95" name="Picture 94">
            <a:extLst>
              <a:ext uri="{FF2B5EF4-FFF2-40B4-BE49-F238E27FC236}">
                <a16:creationId xmlns:a16="http://schemas.microsoft.com/office/drawing/2014/main" id="{01AF5FBB-9FDC-4D75-9DD6-DAF01ED197A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123845" y="1578901"/>
            <a:ext cx="7020154" cy="3564599"/>
          </a:xfrm>
          <a:prstGeom prst="rect">
            <a:avLst/>
          </a:prstGeom>
        </p:spPr>
      </p:pic>
      <p:pic>
        <p:nvPicPr>
          <p:cNvPr id="97" name="Picture 96">
            <a:extLst>
              <a:ext uri="{FF2B5EF4-FFF2-40B4-BE49-F238E27FC236}">
                <a16:creationId xmlns:a16="http://schemas.microsoft.com/office/drawing/2014/main" id="{933BBBE6-F4CF-483E-BA74-B51421B4D9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p:nvSpPr>
          <p:cNvPr id="99" name="Rectangle 98">
            <a:extLst>
              <a:ext uri="{FF2B5EF4-FFF2-40B4-BE49-F238E27FC236}">
                <a16:creationId xmlns:a16="http://schemas.microsoft.com/office/drawing/2014/main" id="{4C790028-99AE-4AE4-8269-9913E2D50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1" name="Rectangle 100">
            <a:extLst>
              <a:ext uri="{FF2B5EF4-FFF2-40B4-BE49-F238E27FC236}">
                <a16:creationId xmlns:a16="http://schemas.microsoft.com/office/drawing/2014/main" id="{06936A2A-FE08-4EE0-A409-3EF3FA244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 name="Rectangle 102">
            <a:extLst>
              <a:ext uri="{FF2B5EF4-FFF2-40B4-BE49-F238E27FC236}">
                <a16:creationId xmlns:a16="http://schemas.microsoft.com/office/drawing/2014/main" id="{BAF0407B-48CB-4C05-B0D7-7A69A0D40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649" y="0"/>
            <a:ext cx="5950761"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5" name="Rectangle 104">
            <a:extLst>
              <a:ext uri="{FF2B5EF4-FFF2-40B4-BE49-F238E27FC236}">
                <a16:creationId xmlns:a16="http://schemas.microsoft.com/office/drawing/2014/main" id="{ADC50C3D-0DA0-4914-B5B4-D1819CC69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6410" y="0"/>
            <a:ext cx="20574"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7" name="TextBox 106">
            <a:extLst>
              <a:ext uri="{FF2B5EF4-FFF2-40B4-BE49-F238E27FC236}">
                <a16:creationId xmlns:a16="http://schemas.microsoft.com/office/drawing/2014/main" id="{8CF9E583-1A92-4144-B4FA-81D98317FA04}"/>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3461" y="2447139"/>
            <a:ext cx="311727" cy="346248"/>
          </a:xfrm>
          <a:prstGeom prst="rect">
            <a:avLst/>
          </a:prstGeom>
          <a:noFill/>
        </p:spPr>
        <p:txBody>
          <a:bodyPr wrap="square" rtlCol="0">
            <a:spAutoFit/>
          </a:bodyPr>
          <a:lstStyle/>
          <a:p>
            <a:pPr algn="r">
              <a:spcAft>
                <a:spcPts val="600"/>
              </a:spcAft>
            </a:pP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 useBgFill="1">
        <p:nvSpPr>
          <p:cNvPr id="109" name="Rectangle 108">
            <a:extLst>
              <a:ext uri="{FF2B5EF4-FFF2-40B4-BE49-F238E27FC236}">
                <a16:creationId xmlns:a16="http://schemas.microsoft.com/office/drawing/2014/main" id="{55980737-1E33-40A8-819D-C20C41E4F7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2400" cy="514146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1" name="Picture 110">
            <a:extLst>
              <a:ext uri="{FF2B5EF4-FFF2-40B4-BE49-F238E27FC236}">
                <a16:creationId xmlns:a16="http://schemas.microsoft.com/office/drawing/2014/main" id="{6ABBD51A-FA48-44B8-B184-A40D7F134F1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123845" y="1578901"/>
            <a:ext cx="7020154" cy="3564599"/>
          </a:xfrm>
          <a:prstGeom prst="rect">
            <a:avLst/>
          </a:prstGeom>
        </p:spPr>
      </p:pic>
      <p:pic>
        <p:nvPicPr>
          <p:cNvPr id="113" name="Picture 112">
            <a:extLst>
              <a:ext uri="{FF2B5EF4-FFF2-40B4-BE49-F238E27FC236}">
                <a16:creationId xmlns:a16="http://schemas.microsoft.com/office/drawing/2014/main" id="{510188A9-F0D9-4FE9-85DC-2179145278C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p:nvSpPr>
          <p:cNvPr id="115" name="Rectangle 114">
            <a:extLst>
              <a:ext uri="{FF2B5EF4-FFF2-40B4-BE49-F238E27FC236}">
                <a16:creationId xmlns:a16="http://schemas.microsoft.com/office/drawing/2014/main" id="{32927575-BD84-44B6-BE49-E0C7EDD0E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73FDF09A-B960-49F4-BAEB-DA397BDCD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791BE6C0-4118-460B-90C2-160041247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649" y="0"/>
            <a:ext cx="7783501"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Google Shape;89;p29">
            <a:extLst>
              <a:ext uri="{FF2B5EF4-FFF2-40B4-BE49-F238E27FC236}">
                <a16:creationId xmlns:a16="http://schemas.microsoft.com/office/drawing/2014/main" id="{6C17A4AE-55E6-A4CF-AE25-A32AB5CF1AFF}"/>
              </a:ext>
            </a:extLst>
          </p:cNvPr>
          <p:cNvSpPr txBox="1">
            <a:spLocks noGrp="1"/>
          </p:cNvSpPr>
          <p:nvPr>
            <p:ph type="ctrTitle" idx="4294967295"/>
          </p:nvPr>
        </p:nvSpPr>
        <p:spPr>
          <a:xfrm>
            <a:off x="979309" y="210004"/>
            <a:ext cx="7077242" cy="1701419"/>
          </a:xfrm>
          <a:prstGeom prst="rect">
            <a:avLst/>
          </a:prstGeom>
        </p:spPr>
        <p:txBody>
          <a:bodyPr spcFirstLastPara="1" vert="horz" lIns="91440" tIns="45720" rIns="91440" bIns="45720" rtlCol="0" anchor="t" anchorCtr="0">
            <a:normAutofit/>
          </a:bodyPr>
          <a:lstStyle/>
          <a:p>
            <a:pPr lvl="0" algn="l" defTabSz="914400">
              <a:buClr>
                <a:schemeClr val="dk1"/>
              </a:buClr>
              <a:buSzPts val="1100"/>
            </a:pPr>
            <a:r>
              <a:rPr lang="en-US" sz="3300" b="1" dirty="0"/>
              <a:t>Manual Rate Confirmation Processing</a:t>
            </a:r>
            <a:endParaRPr lang="en-US" sz="3300" b="1" dirty="0">
              <a:sym typeface="Inter ExtraBold"/>
            </a:endParaRPr>
          </a:p>
          <a:p>
            <a:pPr marL="0" lvl="0" indent="0" defTabSz="914400">
              <a:spcAft>
                <a:spcPts val="0"/>
              </a:spcAft>
            </a:pPr>
            <a:endParaRPr lang="en-US" sz="2400" dirty="0">
              <a:sym typeface="Inter"/>
            </a:endParaRPr>
          </a:p>
        </p:txBody>
      </p:sp>
      <p:sp>
        <p:nvSpPr>
          <p:cNvPr id="90" name="Google Shape;90;p29">
            <a:extLst>
              <a:ext uri="{FF2B5EF4-FFF2-40B4-BE49-F238E27FC236}">
                <a16:creationId xmlns:a16="http://schemas.microsoft.com/office/drawing/2014/main" id="{427F5330-EBD0-B687-00A6-D077D357DAE6}"/>
              </a:ext>
            </a:extLst>
          </p:cNvPr>
          <p:cNvSpPr txBox="1">
            <a:spLocks noGrp="1"/>
          </p:cNvSpPr>
          <p:nvPr>
            <p:ph type="subTitle" idx="4294967295"/>
          </p:nvPr>
        </p:nvSpPr>
        <p:spPr>
          <a:xfrm>
            <a:off x="891788" y="1701589"/>
            <a:ext cx="2579708" cy="2175210"/>
          </a:xfrm>
          <a:prstGeom prst="rect">
            <a:avLst/>
          </a:prstGeom>
        </p:spPr>
        <p:txBody>
          <a:bodyPr spcFirstLastPara="1" vert="horz" lIns="91440" tIns="0" rIns="91440" bIns="45720" rtlCol="0" anchor="b" anchorCtr="0">
            <a:noAutofit/>
          </a:bodyPr>
          <a:lstStyle/>
          <a:p>
            <a:pPr marL="0" indent="0" defTabSz="914400">
              <a:lnSpc>
                <a:spcPct val="110000"/>
              </a:lnSpc>
              <a:spcBef>
                <a:spcPts val="1000"/>
              </a:spcBef>
              <a:spcAft>
                <a:spcPts val="600"/>
              </a:spcAft>
              <a:buNone/>
            </a:pPr>
            <a:r>
              <a:rPr lang="en-US" sz="1200" dirty="0"/>
              <a:t>The current manual workflow for processing rate confirmations involves repetitive tasks such as document handling, manual data extraction, and separate mileage calculation using external tools like Google Maps, where each location must be entered manually.</a:t>
            </a:r>
          </a:p>
          <a:p>
            <a:pPr marL="0" lvl="0" indent="0" algn="r" defTabSz="914400">
              <a:lnSpc>
                <a:spcPct val="110000"/>
              </a:lnSpc>
              <a:spcBef>
                <a:spcPts val="1000"/>
              </a:spcBef>
              <a:spcAft>
                <a:spcPts val="600"/>
              </a:spcAft>
              <a:buNone/>
            </a:pPr>
            <a:endParaRPr lang="en-US" sz="1200" dirty="0">
              <a:sym typeface="Inter"/>
            </a:endParaRPr>
          </a:p>
        </p:txBody>
      </p:sp>
      <p:pic>
        <p:nvPicPr>
          <p:cNvPr id="2" name="Picture 1">
            <a:extLst>
              <a:ext uri="{FF2B5EF4-FFF2-40B4-BE49-F238E27FC236}">
                <a16:creationId xmlns:a16="http://schemas.microsoft.com/office/drawing/2014/main" id="{545FF1FF-D05D-1248-4941-925AA381AEF4}"/>
              </a:ext>
            </a:extLst>
          </p:cNvPr>
          <p:cNvPicPr>
            <a:picLocks noChangeAspect="1"/>
          </p:cNvPicPr>
          <p:nvPr/>
        </p:nvPicPr>
        <p:blipFill>
          <a:blip r:embed="rId6"/>
          <a:stretch>
            <a:fillRect/>
          </a:stretch>
        </p:blipFill>
        <p:spPr>
          <a:xfrm>
            <a:off x="3536651" y="1498310"/>
            <a:ext cx="4715561" cy="2581768"/>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121" name="Rectangle 120">
            <a:extLst>
              <a:ext uri="{FF2B5EF4-FFF2-40B4-BE49-F238E27FC236}">
                <a16:creationId xmlns:a16="http://schemas.microsoft.com/office/drawing/2014/main" id="{15B5C763-A6E8-4D31-B139-30D083B824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40749" y="-2038"/>
            <a:ext cx="20574" cy="51434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008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8">
          <a:extLst>
            <a:ext uri="{FF2B5EF4-FFF2-40B4-BE49-F238E27FC236}">
              <a16:creationId xmlns:a16="http://schemas.microsoft.com/office/drawing/2014/main" id="{08A47B5A-7F13-022B-1EBA-281D5CD290C8}"/>
            </a:ext>
          </a:extLst>
        </p:cNvPr>
        <p:cNvGrpSpPr/>
        <p:nvPr/>
      </p:nvGrpSpPr>
      <p:grpSpPr>
        <a:xfrm>
          <a:off x="0" y="0"/>
          <a:ext cx="0" cy="0"/>
          <a:chOff x="0" y="0"/>
          <a:chExt cx="0" cy="0"/>
        </a:xfrm>
      </p:grpSpPr>
      <p:pic>
        <p:nvPicPr>
          <p:cNvPr id="95" name="Picture 94">
            <a:extLst>
              <a:ext uri="{FF2B5EF4-FFF2-40B4-BE49-F238E27FC236}">
                <a16:creationId xmlns:a16="http://schemas.microsoft.com/office/drawing/2014/main" id="{3DBBA26C-89C3-411F-9753-606A413F89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1578901"/>
            <a:ext cx="7020154" cy="3564599"/>
          </a:xfrm>
          <a:prstGeom prst="rect">
            <a:avLst/>
          </a:prstGeom>
        </p:spPr>
      </p:pic>
      <p:pic>
        <p:nvPicPr>
          <p:cNvPr id="97" name="Picture 96">
            <a:extLst>
              <a:ext uri="{FF2B5EF4-FFF2-40B4-BE49-F238E27FC236}">
                <a16:creationId xmlns:a16="http://schemas.microsoft.com/office/drawing/2014/main" id="{EEAD2215-6311-4D1C-B6B5-F57CB6BFCBC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p:nvSpPr>
          <p:cNvPr id="99" name="Rectangle 98">
            <a:extLst>
              <a:ext uri="{FF2B5EF4-FFF2-40B4-BE49-F238E27FC236}">
                <a16:creationId xmlns:a16="http://schemas.microsoft.com/office/drawing/2014/main" id="{7BA5DE79-30D1-4A10-8DB9-0A6E523A97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1" name="Rectangle 100">
            <a:extLst>
              <a:ext uri="{FF2B5EF4-FFF2-40B4-BE49-F238E27FC236}">
                <a16:creationId xmlns:a16="http://schemas.microsoft.com/office/drawing/2014/main" id="{9ABD0D63-D23F-4AE7-8270-4185EF9C1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 name="Rectangle 102">
            <a:extLst>
              <a:ext uri="{FF2B5EF4-FFF2-40B4-BE49-F238E27FC236}">
                <a16:creationId xmlns:a16="http://schemas.microsoft.com/office/drawing/2014/main" id="{D5B0B43F-2CE7-4C6C-BABC-EE342B3282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5" name="Rectangle 104">
            <a:extLst>
              <a:ext uri="{FF2B5EF4-FFF2-40B4-BE49-F238E27FC236}">
                <a16:creationId xmlns:a16="http://schemas.microsoft.com/office/drawing/2014/main" id="{85459F07-63F9-48CF-B725-A873C4BC3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7" name="TextBox 106">
            <a:extLst>
              <a:ext uri="{FF2B5EF4-FFF2-40B4-BE49-F238E27FC236}">
                <a16:creationId xmlns:a16="http://schemas.microsoft.com/office/drawing/2014/main" id="{14B83E1E-DAC1-4851-84FF-D6FE1649DE0B}"/>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480918"/>
            <a:ext cx="311727" cy="276999"/>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pic>
        <p:nvPicPr>
          <p:cNvPr id="109" name="Picture 108">
            <a:extLst>
              <a:ext uri="{FF2B5EF4-FFF2-40B4-BE49-F238E27FC236}">
                <a16:creationId xmlns:a16="http://schemas.microsoft.com/office/drawing/2014/main" id="{0214283E-D7B4-49E9-932E-D7F2A2847F1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useBgFill="1">
        <p:nvSpPr>
          <p:cNvPr id="111" name="Rectangle 110">
            <a:extLst>
              <a:ext uri="{FF2B5EF4-FFF2-40B4-BE49-F238E27FC236}">
                <a16:creationId xmlns:a16="http://schemas.microsoft.com/office/drawing/2014/main" id="{92806DFD-E192-42CC-B190-3C4C95B8FF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99" y="0"/>
            <a:ext cx="914240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3" name="Picture 112">
            <a:extLst>
              <a:ext uri="{FF2B5EF4-FFF2-40B4-BE49-F238E27FC236}">
                <a16:creationId xmlns:a16="http://schemas.microsoft.com/office/drawing/2014/main" id="{9FCFF961-4E84-4FD1-859C-B7F410031CB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6344" y="0"/>
            <a:ext cx="3474378" cy="5143500"/>
          </a:xfrm>
          <a:prstGeom prst="rect">
            <a:avLst/>
          </a:prstGeom>
        </p:spPr>
      </p:pic>
      <p:sp>
        <p:nvSpPr>
          <p:cNvPr id="89" name="Google Shape;89;p29">
            <a:extLst>
              <a:ext uri="{FF2B5EF4-FFF2-40B4-BE49-F238E27FC236}">
                <a16:creationId xmlns:a16="http://schemas.microsoft.com/office/drawing/2014/main" id="{94035920-08F9-A731-1C1C-6236339CE17E}"/>
              </a:ext>
            </a:extLst>
          </p:cNvPr>
          <p:cNvSpPr txBox="1">
            <a:spLocks noGrp="1"/>
          </p:cNvSpPr>
          <p:nvPr>
            <p:ph type="ctrTitle" idx="4294967295"/>
          </p:nvPr>
        </p:nvSpPr>
        <p:spPr>
          <a:xfrm>
            <a:off x="737875" y="901292"/>
            <a:ext cx="2767592" cy="3340915"/>
          </a:xfrm>
          <a:prstGeom prst="rect">
            <a:avLst/>
          </a:prstGeom>
        </p:spPr>
        <p:txBody>
          <a:bodyPr spcFirstLastPara="1" vert="horz" lIns="91440" tIns="45720" rIns="91440" bIns="45720" rtlCol="0" anchor="ctr" anchorCtr="0">
            <a:normAutofit/>
          </a:bodyPr>
          <a:lstStyle/>
          <a:p>
            <a:pPr marL="0" lvl="0" indent="0" defTabSz="914400">
              <a:spcAft>
                <a:spcPts val="0"/>
              </a:spcAft>
              <a:buClr>
                <a:schemeClr val="dk1"/>
              </a:buClr>
              <a:buSzPts val="1100"/>
            </a:pPr>
            <a:r>
              <a:rPr lang="en-US" sz="3600" b="1" dirty="0"/>
              <a:t>Automation </a:t>
            </a:r>
            <a:r>
              <a:rPr lang="en-US" sz="3300" b="1" dirty="0">
                <a:sym typeface="Inter ExtraBold"/>
              </a:rPr>
              <a:t>Solution</a:t>
            </a:r>
          </a:p>
          <a:p>
            <a:pPr marL="0" lvl="0" indent="0" defTabSz="914400">
              <a:spcAft>
                <a:spcPts val="0"/>
              </a:spcAft>
            </a:pPr>
            <a:endParaRPr lang="en-US" sz="2700" dirty="0">
              <a:sym typeface="Inter"/>
            </a:endParaRPr>
          </a:p>
        </p:txBody>
      </p:sp>
      <p:sp>
        <p:nvSpPr>
          <p:cNvPr id="115" name="Rectangle 114">
            <a:extLst>
              <a:ext uri="{FF2B5EF4-FFF2-40B4-BE49-F238E27FC236}">
                <a16:creationId xmlns:a16="http://schemas.microsoft.com/office/drawing/2014/main" id="{BB17FFD2-DBC7-4ABB-B2A0-7E18EC1B8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7" name="Rectangle 116">
            <a:extLst>
              <a:ext uri="{FF2B5EF4-FFF2-40B4-BE49-F238E27FC236}">
                <a16:creationId xmlns:a16="http://schemas.microsoft.com/office/drawing/2014/main" id="{DF737BB4-6553-47A8-893F-178A10C6B6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0" name="Google Shape;90;p29">
            <a:extLst>
              <a:ext uri="{FF2B5EF4-FFF2-40B4-BE49-F238E27FC236}">
                <a16:creationId xmlns:a16="http://schemas.microsoft.com/office/drawing/2014/main" id="{62BF2D79-8D04-F157-73DC-D9DAC02A0E96}"/>
              </a:ext>
            </a:extLst>
          </p:cNvPr>
          <p:cNvSpPr txBox="1">
            <a:spLocks noGrp="1"/>
          </p:cNvSpPr>
          <p:nvPr>
            <p:ph type="subTitle" idx="4294967295"/>
          </p:nvPr>
        </p:nvSpPr>
        <p:spPr>
          <a:xfrm>
            <a:off x="3647871" y="-1"/>
            <a:ext cx="5228375" cy="5143499"/>
          </a:xfrm>
          <a:prstGeom prst="rect">
            <a:avLst/>
          </a:prstGeom>
        </p:spPr>
        <p:txBody>
          <a:bodyPr spcFirstLastPara="1" vert="horz" lIns="91440" tIns="45720" rIns="91440" bIns="45720" rtlCol="0" anchor="ctr" anchorCtr="0">
            <a:noAutofit/>
          </a:bodyPr>
          <a:lstStyle/>
          <a:p>
            <a:pPr marL="0" indent="0" defTabSz="914400">
              <a:lnSpc>
                <a:spcPct val="110000"/>
              </a:lnSpc>
              <a:spcAft>
                <a:spcPts val="600"/>
              </a:spcAft>
              <a:buNone/>
            </a:pPr>
            <a:r>
              <a:rPr lang="en-US" sz="1200" dirty="0"/>
              <a:t> An end-to-end UiPath automation was developed to streamline rate confirmation processing by combining AI-powered document extraction, mileage enrichment, validation logic, and structured spreadsheet reporting into a single scalable workflow. </a:t>
            </a:r>
          </a:p>
          <a:p>
            <a:pPr marL="0" indent="0" defTabSz="914400">
              <a:lnSpc>
                <a:spcPct val="110000"/>
              </a:lnSpc>
              <a:spcAft>
                <a:spcPts val="600"/>
              </a:spcAft>
              <a:buNone/>
            </a:pPr>
            <a:r>
              <a:rPr lang="en-US" sz="1200" dirty="0"/>
              <a:t>The solution reduces repetitive manual processing while improving operational visibility, reporting efficiency, and data consistency.</a:t>
            </a:r>
          </a:p>
          <a:p>
            <a:pPr marL="0" indent="0" defTabSz="914400">
              <a:lnSpc>
                <a:spcPct val="110000"/>
              </a:lnSpc>
              <a:spcAft>
                <a:spcPts val="600"/>
              </a:spcAft>
              <a:buNone/>
            </a:pPr>
            <a:endParaRPr lang="en-US" sz="1200" dirty="0"/>
          </a:p>
          <a:p>
            <a:pPr marL="0" indent="0" defTabSz="914400">
              <a:lnSpc>
                <a:spcPct val="110000"/>
              </a:lnSpc>
              <a:spcAft>
                <a:spcPts val="600"/>
              </a:spcAft>
              <a:buNone/>
            </a:pPr>
            <a:r>
              <a:rPr lang="en-US" sz="1200" b="1" dirty="0"/>
              <a:t>Core Capabilities:</a:t>
            </a:r>
          </a:p>
          <a:p>
            <a:pPr marL="285750" indent="-285750" defTabSz="914400">
              <a:lnSpc>
                <a:spcPct val="110000"/>
              </a:lnSpc>
              <a:spcAft>
                <a:spcPts val="600"/>
              </a:spcAft>
            </a:pPr>
            <a:r>
              <a:rPr lang="en-US" sz="1200" dirty="0"/>
              <a:t>Automatically retrieves rate confirmations from email</a:t>
            </a:r>
          </a:p>
          <a:p>
            <a:pPr marL="285750" indent="-285750" defTabSz="914400">
              <a:lnSpc>
                <a:spcPct val="110000"/>
              </a:lnSpc>
              <a:spcAft>
                <a:spcPts val="600"/>
              </a:spcAft>
            </a:pPr>
            <a:r>
              <a:rPr lang="en-US" sz="1200" dirty="0"/>
              <a:t>Stores and organizes documents in Google Drive</a:t>
            </a:r>
          </a:p>
          <a:p>
            <a:pPr marL="285750" indent="-285750" defTabSz="914400">
              <a:lnSpc>
                <a:spcPct val="110000"/>
              </a:lnSpc>
              <a:spcAft>
                <a:spcPts val="600"/>
              </a:spcAft>
            </a:pPr>
            <a:r>
              <a:rPr lang="en-US" sz="1200" dirty="0"/>
              <a:t>Extracts shipment data using Document Understanding</a:t>
            </a:r>
          </a:p>
          <a:p>
            <a:pPr marL="285750" indent="-285750" defTabSz="914400">
              <a:lnSpc>
                <a:spcPct val="110000"/>
              </a:lnSpc>
              <a:spcAft>
                <a:spcPts val="600"/>
              </a:spcAft>
            </a:pPr>
            <a:r>
              <a:rPr lang="en-US" sz="1200" dirty="0"/>
              <a:t>Calculates mileage using AI-based enrichment</a:t>
            </a:r>
          </a:p>
          <a:p>
            <a:pPr marL="285750" indent="-285750" defTabSz="914400">
              <a:lnSpc>
                <a:spcPct val="110000"/>
              </a:lnSpc>
              <a:spcAft>
                <a:spcPts val="600"/>
              </a:spcAft>
            </a:pPr>
            <a:r>
              <a:rPr lang="en-US" sz="1200" dirty="0"/>
              <a:t>Writes structured output directly into reporting spreadsheets</a:t>
            </a:r>
          </a:p>
          <a:p>
            <a:pPr marL="285750" indent="-285750" defTabSz="914400">
              <a:lnSpc>
                <a:spcPct val="110000"/>
              </a:lnSpc>
              <a:spcAft>
                <a:spcPts val="600"/>
              </a:spcAft>
            </a:pPr>
            <a:r>
              <a:rPr lang="en-US" sz="1200" dirty="0"/>
              <a:t>Flags incomplete or low-confidence data for manual review</a:t>
            </a:r>
          </a:p>
          <a:p>
            <a:pPr marL="285750" indent="-285750" defTabSz="914400">
              <a:lnSpc>
                <a:spcPct val="110000"/>
              </a:lnSpc>
              <a:spcAft>
                <a:spcPts val="600"/>
              </a:spcAft>
            </a:pPr>
            <a:r>
              <a:rPr lang="en-US" sz="1200" dirty="0"/>
              <a:t>Sends automated validation alerts when issues are detected</a:t>
            </a:r>
          </a:p>
        </p:txBody>
      </p:sp>
    </p:spTree>
    <p:extLst>
      <p:ext uri="{BB962C8B-B14F-4D97-AF65-F5344CB8AC3E}">
        <p14:creationId xmlns:p14="http://schemas.microsoft.com/office/powerpoint/2010/main" val="284621931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92F3785C-46AA-1F65-138C-4132A700C4E4}"/>
            </a:ext>
          </a:extLst>
        </p:cNvPr>
        <p:cNvGrpSpPr/>
        <p:nvPr/>
      </p:nvGrpSpPr>
      <p:grpSpPr>
        <a:xfrm>
          <a:off x="0" y="0"/>
          <a:ext cx="0" cy="0"/>
          <a:chOff x="0" y="0"/>
          <a:chExt cx="0" cy="0"/>
        </a:xfrm>
      </p:grpSpPr>
      <p:sp>
        <p:nvSpPr>
          <p:cNvPr id="89" name="Google Shape;89;p29">
            <a:extLst>
              <a:ext uri="{FF2B5EF4-FFF2-40B4-BE49-F238E27FC236}">
                <a16:creationId xmlns:a16="http://schemas.microsoft.com/office/drawing/2014/main" id="{A97B06C9-4C8D-9F2D-536D-64EA170D1BCE}"/>
              </a:ext>
            </a:extLst>
          </p:cNvPr>
          <p:cNvSpPr txBox="1">
            <a:spLocks noGrp="1"/>
          </p:cNvSpPr>
          <p:nvPr>
            <p:ph type="ctrTitle" idx="4294967295"/>
          </p:nvPr>
        </p:nvSpPr>
        <p:spPr>
          <a:xfrm>
            <a:off x="782126" y="75592"/>
            <a:ext cx="3898900" cy="2095500"/>
          </a:xfrm>
          <a:prstGeom prst="rect">
            <a:avLst/>
          </a:prstGeom>
          <a:noFill/>
          <a:ln>
            <a:noFill/>
          </a:ln>
        </p:spPr>
        <p:txBody>
          <a:bodyPr spcFirstLastPara="1" wrap="square" lIns="91425" tIns="91425" rIns="91425" bIns="91425" anchor="t" anchorCtr="0">
            <a:spAutoFit/>
          </a:bodyPr>
          <a:lstStyle/>
          <a:p>
            <a:pPr lvl="0" algn="l">
              <a:lnSpc>
                <a:spcPct val="115000"/>
              </a:lnSpc>
              <a:buClr>
                <a:schemeClr val="dk1"/>
              </a:buClr>
              <a:buSzPts val="1100"/>
            </a:pPr>
            <a:r>
              <a:rPr lang="en-US" sz="3600" b="1" dirty="0"/>
              <a:t>Proposed</a:t>
            </a:r>
            <a:br>
              <a:rPr lang="en-US" sz="3600" b="1" dirty="0"/>
            </a:br>
            <a:r>
              <a:rPr lang="en-US" sz="3600" b="1" dirty="0"/>
              <a:t>Automation </a:t>
            </a:r>
            <a:br>
              <a:rPr lang="en-US" sz="3600" b="1" dirty="0"/>
            </a:br>
            <a:r>
              <a:rPr lang="en-US" sz="3600" b="1" dirty="0"/>
              <a:t>Solution</a:t>
            </a:r>
            <a:endParaRPr lang="en-US" sz="700" b="1" i="1" dirty="0">
              <a:solidFill>
                <a:schemeClr val="dk1"/>
              </a:solidFill>
            </a:endParaRPr>
          </a:p>
        </p:txBody>
      </p:sp>
      <p:sp>
        <p:nvSpPr>
          <p:cNvPr id="90" name="Google Shape;90;p29">
            <a:extLst>
              <a:ext uri="{FF2B5EF4-FFF2-40B4-BE49-F238E27FC236}">
                <a16:creationId xmlns:a16="http://schemas.microsoft.com/office/drawing/2014/main" id="{D580CA4D-D46E-14BA-1079-E003483CF0B5}"/>
              </a:ext>
            </a:extLst>
          </p:cNvPr>
          <p:cNvSpPr txBox="1">
            <a:spLocks noGrp="1"/>
          </p:cNvSpPr>
          <p:nvPr>
            <p:ph type="subTitle" idx="4294967295"/>
          </p:nvPr>
        </p:nvSpPr>
        <p:spPr>
          <a:xfrm>
            <a:off x="782126" y="2416107"/>
            <a:ext cx="3898900" cy="1457325"/>
          </a:xfrm>
          <a:prstGeom prst="rect">
            <a:avLst/>
          </a:prstGeom>
          <a:noFill/>
          <a:ln>
            <a:noFill/>
          </a:ln>
        </p:spPr>
        <p:txBody>
          <a:bodyPr spcFirstLastPara="1" wrap="square" lIns="91425" tIns="91425" rIns="91425" bIns="91425" anchor="b" anchorCtr="0">
            <a:noAutofit/>
          </a:bodyPr>
          <a:lstStyle/>
          <a:p>
            <a:pPr marL="0" lvl="0" indent="0">
              <a:lnSpc>
                <a:spcPct val="150000"/>
              </a:lnSpc>
              <a:buClr>
                <a:schemeClr val="dk1"/>
              </a:buClr>
              <a:buSzPts val="1100"/>
              <a:buNone/>
            </a:pPr>
            <a:r>
              <a:rPr lang="en-US" sz="1200" dirty="0"/>
              <a:t>This UiPath automation handles the end-to-end processing of rate confirmations, from email retrieval to data extraction, AI-based mileage calculation, and structured output, with built-in validation and error handling.</a:t>
            </a:r>
            <a:endParaRPr lang="en-US" sz="1200" dirty="0">
              <a:latin typeface="Inter"/>
              <a:ea typeface="Inter"/>
              <a:cs typeface="Inter"/>
              <a:sym typeface="Inter"/>
            </a:endParaRPr>
          </a:p>
        </p:txBody>
      </p:sp>
      <p:pic>
        <p:nvPicPr>
          <p:cNvPr id="3" name="Picture 2">
            <a:extLst>
              <a:ext uri="{FF2B5EF4-FFF2-40B4-BE49-F238E27FC236}">
                <a16:creationId xmlns:a16="http://schemas.microsoft.com/office/drawing/2014/main" id="{AE421860-5DD0-46A6-66D4-2D8136517878}"/>
              </a:ext>
            </a:extLst>
          </p:cNvPr>
          <p:cNvPicPr>
            <a:picLocks noChangeAspect="1"/>
          </p:cNvPicPr>
          <p:nvPr/>
        </p:nvPicPr>
        <p:blipFill>
          <a:blip r:embed="rId3"/>
          <a:stretch>
            <a:fillRect/>
          </a:stretch>
        </p:blipFill>
        <p:spPr>
          <a:xfrm>
            <a:off x="4681026" y="0"/>
            <a:ext cx="3167575" cy="5143500"/>
          </a:xfrm>
          <a:prstGeom prst="rect">
            <a:avLst/>
          </a:prstGeom>
        </p:spPr>
      </p:pic>
    </p:spTree>
    <p:extLst>
      <p:ext uri="{BB962C8B-B14F-4D97-AF65-F5344CB8AC3E}">
        <p14:creationId xmlns:p14="http://schemas.microsoft.com/office/powerpoint/2010/main" val="167234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8">
          <a:extLst>
            <a:ext uri="{FF2B5EF4-FFF2-40B4-BE49-F238E27FC236}">
              <a16:creationId xmlns:a16="http://schemas.microsoft.com/office/drawing/2014/main" id="{A1A8C36F-93F0-8D62-B342-B6087734C0DA}"/>
            </a:ext>
          </a:extLst>
        </p:cNvPr>
        <p:cNvGrpSpPr/>
        <p:nvPr/>
      </p:nvGrpSpPr>
      <p:grpSpPr>
        <a:xfrm>
          <a:off x="0" y="0"/>
          <a:ext cx="0" cy="0"/>
          <a:chOff x="0" y="0"/>
          <a:chExt cx="0" cy="0"/>
        </a:xfrm>
      </p:grpSpPr>
      <p:pic>
        <p:nvPicPr>
          <p:cNvPr id="95" name="Picture 94">
            <a:extLst>
              <a:ext uri="{FF2B5EF4-FFF2-40B4-BE49-F238E27FC236}">
                <a16:creationId xmlns:a16="http://schemas.microsoft.com/office/drawing/2014/main" id="{3DBBA26C-89C3-411F-9753-606A413F89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1578901"/>
            <a:ext cx="7020154" cy="3564599"/>
          </a:xfrm>
          <a:prstGeom prst="rect">
            <a:avLst/>
          </a:prstGeom>
        </p:spPr>
      </p:pic>
      <p:pic>
        <p:nvPicPr>
          <p:cNvPr id="97" name="Picture 96">
            <a:extLst>
              <a:ext uri="{FF2B5EF4-FFF2-40B4-BE49-F238E27FC236}">
                <a16:creationId xmlns:a16="http://schemas.microsoft.com/office/drawing/2014/main" id="{EEAD2215-6311-4D1C-B6B5-F57CB6BFCBC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p:nvSpPr>
          <p:cNvPr id="99" name="Rectangle 98">
            <a:extLst>
              <a:ext uri="{FF2B5EF4-FFF2-40B4-BE49-F238E27FC236}">
                <a16:creationId xmlns:a16="http://schemas.microsoft.com/office/drawing/2014/main" id="{7BA5DE79-30D1-4A10-8DB9-0A6E523A97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1" name="Rectangle 100">
            <a:extLst>
              <a:ext uri="{FF2B5EF4-FFF2-40B4-BE49-F238E27FC236}">
                <a16:creationId xmlns:a16="http://schemas.microsoft.com/office/drawing/2014/main" id="{9ABD0D63-D23F-4AE7-8270-4185EF9C1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 name="Rectangle 102">
            <a:extLst>
              <a:ext uri="{FF2B5EF4-FFF2-40B4-BE49-F238E27FC236}">
                <a16:creationId xmlns:a16="http://schemas.microsoft.com/office/drawing/2014/main" id="{D5B0B43F-2CE7-4C6C-BABC-EE342B3282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5" name="Rectangle 104">
            <a:extLst>
              <a:ext uri="{FF2B5EF4-FFF2-40B4-BE49-F238E27FC236}">
                <a16:creationId xmlns:a16="http://schemas.microsoft.com/office/drawing/2014/main" id="{85459F07-63F9-48CF-B725-A873C4BC3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7" name="TextBox 106">
            <a:extLst>
              <a:ext uri="{FF2B5EF4-FFF2-40B4-BE49-F238E27FC236}">
                <a16:creationId xmlns:a16="http://schemas.microsoft.com/office/drawing/2014/main" id="{14B83E1E-DAC1-4851-84FF-D6FE1649DE0B}"/>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480918"/>
            <a:ext cx="311727" cy="276999"/>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pic>
        <p:nvPicPr>
          <p:cNvPr id="109" name="Picture 108">
            <a:extLst>
              <a:ext uri="{FF2B5EF4-FFF2-40B4-BE49-F238E27FC236}">
                <a16:creationId xmlns:a16="http://schemas.microsoft.com/office/drawing/2014/main" id="{0214283E-D7B4-49E9-932E-D7F2A2847F1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useBgFill="1">
        <p:nvSpPr>
          <p:cNvPr id="111" name="Rectangle 110">
            <a:extLst>
              <a:ext uri="{FF2B5EF4-FFF2-40B4-BE49-F238E27FC236}">
                <a16:creationId xmlns:a16="http://schemas.microsoft.com/office/drawing/2014/main" id="{92806DFD-E192-42CC-B190-3C4C95B8FF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99" y="0"/>
            <a:ext cx="914240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3" name="Picture 112">
            <a:extLst>
              <a:ext uri="{FF2B5EF4-FFF2-40B4-BE49-F238E27FC236}">
                <a16:creationId xmlns:a16="http://schemas.microsoft.com/office/drawing/2014/main" id="{9FCFF961-4E84-4FD1-859C-B7F410031CB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6344" y="0"/>
            <a:ext cx="3474378" cy="5143500"/>
          </a:xfrm>
          <a:prstGeom prst="rect">
            <a:avLst/>
          </a:prstGeom>
        </p:spPr>
      </p:pic>
      <p:sp>
        <p:nvSpPr>
          <p:cNvPr id="89" name="Google Shape;89;p29">
            <a:extLst>
              <a:ext uri="{FF2B5EF4-FFF2-40B4-BE49-F238E27FC236}">
                <a16:creationId xmlns:a16="http://schemas.microsoft.com/office/drawing/2014/main" id="{A06A3EA8-CCC3-AC51-F90D-A3C227FA38B2}"/>
              </a:ext>
            </a:extLst>
          </p:cNvPr>
          <p:cNvSpPr txBox="1">
            <a:spLocks noGrp="1"/>
          </p:cNvSpPr>
          <p:nvPr>
            <p:ph type="ctrTitle" idx="4294967295"/>
          </p:nvPr>
        </p:nvSpPr>
        <p:spPr>
          <a:xfrm>
            <a:off x="721532" y="901292"/>
            <a:ext cx="2783936" cy="3340915"/>
          </a:xfrm>
          <a:prstGeom prst="rect">
            <a:avLst/>
          </a:prstGeom>
        </p:spPr>
        <p:txBody>
          <a:bodyPr spcFirstLastPara="1" vert="horz" lIns="91440" tIns="45720" rIns="91440" bIns="45720" rtlCol="0" anchor="ctr" anchorCtr="0">
            <a:normAutofit/>
          </a:bodyPr>
          <a:lstStyle/>
          <a:p>
            <a:pPr lvl="0" defTabSz="914400">
              <a:buClr>
                <a:schemeClr val="dk1"/>
              </a:buClr>
              <a:buSzPts val="1100"/>
            </a:pPr>
            <a:r>
              <a:rPr lang="en-US" sz="2800" b="1" dirty="0"/>
              <a:t>Automation Architecture Components</a:t>
            </a:r>
            <a:endParaRPr lang="en-US" sz="2700" b="1" dirty="0">
              <a:sym typeface="Inter"/>
            </a:endParaRPr>
          </a:p>
        </p:txBody>
      </p:sp>
      <p:sp>
        <p:nvSpPr>
          <p:cNvPr id="115" name="Rectangle 114">
            <a:extLst>
              <a:ext uri="{FF2B5EF4-FFF2-40B4-BE49-F238E27FC236}">
                <a16:creationId xmlns:a16="http://schemas.microsoft.com/office/drawing/2014/main" id="{BB17FFD2-DBC7-4ABB-B2A0-7E18EC1B8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7" name="Rectangle 116">
            <a:extLst>
              <a:ext uri="{FF2B5EF4-FFF2-40B4-BE49-F238E27FC236}">
                <a16:creationId xmlns:a16="http://schemas.microsoft.com/office/drawing/2014/main" id="{DF737BB4-6553-47A8-893F-178A10C6B6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0" name="Google Shape;90;p29">
            <a:extLst>
              <a:ext uri="{FF2B5EF4-FFF2-40B4-BE49-F238E27FC236}">
                <a16:creationId xmlns:a16="http://schemas.microsoft.com/office/drawing/2014/main" id="{6DF2826D-8B4D-D0D4-F39C-586258D73C7B}"/>
              </a:ext>
            </a:extLst>
          </p:cNvPr>
          <p:cNvSpPr txBox="1">
            <a:spLocks noGrp="1"/>
          </p:cNvSpPr>
          <p:nvPr>
            <p:ph type="subTitle" idx="4294967295"/>
          </p:nvPr>
        </p:nvSpPr>
        <p:spPr>
          <a:xfrm>
            <a:off x="3997476" y="485812"/>
            <a:ext cx="4388202" cy="4178300"/>
          </a:xfrm>
          <a:prstGeom prst="rect">
            <a:avLst/>
          </a:prstGeom>
        </p:spPr>
        <p:txBody>
          <a:bodyPr spcFirstLastPara="1" vert="horz" lIns="91440" tIns="45720" rIns="91440" bIns="45720" rtlCol="0" anchor="ctr" anchorCtr="0">
            <a:normAutofit/>
          </a:bodyPr>
          <a:lstStyle/>
          <a:p>
            <a:pPr marL="0" indent="0" defTabSz="914400">
              <a:lnSpc>
                <a:spcPct val="110000"/>
              </a:lnSpc>
              <a:spcAft>
                <a:spcPts val="600"/>
              </a:spcAft>
              <a:buNone/>
            </a:pPr>
            <a:r>
              <a:rPr lang="en-US" sz="1200" dirty="0"/>
              <a:t>The automation was implemented in UiPath by combining multiple components, including email integration, file handling, document understanding, AI-based enrichment, and validation logic.</a:t>
            </a:r>
          </a:p>
          <a:p>
            <a:pPr defTabSz="914400">
              <a:lnSpc>
                <a:spcPct val="110000"/>
              </a:lnSpc>
              <a:spcAft>
                <a:spcPts val="600"/>
              </a:spcAft>
            </a:pPr>
            <a:endParaRPr lang="en-US" sz="1200" b="1" dirty="0"/>
          </a:p>
          <a:p>
            <a:pPr marL="0" indent="0" defTabSz="914400">
              <a:lnSpc>
                <a:spcPct val="110000"/>
              </a:lnSpc>
              <a:spcAft>
                <a:spcPts val="600"/>
              </a:spcAft>
              <a:buNone/>
            </a:pPr>
            <a:r>
              <a:rPr lang="en-US" sz="1200" b="1" dirty="0"/>
              <a:t>Key Components:</a:t>
            </a:r>
          </a:p>
          <a:p>
            <a:pPr marL="285750" indent="-285750" defTabSz="914400">
              <a:lnSpc>
                <a:spcPct val="110000"/>
              </a:lnSpc>
              <a:spcAft>
                <a:spcPts val="600"/>
              </a:spcAft>
            </a:pPr>
            <a:r>
              <a:rPr lang="en-US" sz="1200" dirty="0"/>
              <a:t>Email integration to retrieve rate confirmations </a:t>
            </a:r>
          </a:p>
          <a:p>
            <a:pPr marL="285750" indent="-285750" defTabSz="914400">
              <a:lnSpc>
                <a:spcPct val="110000"/>
              </a:lnSpc>
              <a:spcAft>
                <a:spcPts val="600"/>
              </a:spcAft>
            </a:pPr>
            <a:r>
              <a:rPr lang="en-US" sz="1200" dirty="0"/>
              <a:t>File storage and management using Google Drive </a:t>
            </a:r>
          </a:p>
          <a:p>
            <a:pPr marL="285750" indent="-285750" defTabSz="914400">
              <a:lnSpc>
                <a:spcPct val="110000"/>
              </a:lnSpc>
              <a:spcAft>
                <a:spcPts val="600"/>
              </a:spcAft>
            </a:pPr>
            <a:r>
              <a:rPr lang="en-US" sz="1200" dirty="0"/>
              <a:t>Document Understanding pipeline for data extraction </a:t>
            </a:r>
          </a:p>
          <a:p>
            <a:pPr marL="285750" indent="-285750" defTabSz="914400">
              <a:lnSpc>
                <a:spcPct val="110000"/>
              </a:lnSpc>
              <a:spcAft>
                <a:spcPts val="600"/>
              </a:spcAft>
            </a:pPr>
            <a:r>
              <a:rPr lang="en-US" sz="1200" dirty="0"/>
              <a:t>AI integration for mileage calculation </a:t>
            </a:r>
          </a:p>
          <a:p>
            <a:pPr marL="285750" indent="-285750" defTabSz="914400">
              <a:lnSpc>
                <a:spcPct val="110000"/>
              </a:lnSpc>
              <a:spcAft>
                <a:spcPts val="600"/>
              </a:spcAft>
            </a:pPr>
            <a:r>
              <a:rPr lang="en-US" sz="1200" dirty="0"/>
              <a:t>Validation logic for data quality control </a:t>
            </a:r>
          </a:p>
          <a:p>
            <a:pPr marL="285750" indent="-285750" defTabSz="914400">
              <a:lnSpc>
                <a:spcPct val="110000"/>
              </a:lnSpc>
              <a:spcAft>
                <a:spcPts val="600"/>
              </a:spcAft>
            </a:pPr>
            <a:r>
              <a:rPr lang="en-US" sz="1200" dirty="0"/>
              <a:t>Spreadsheet integration for structured output</a:t>
            </a:r>
          </a:p>
        </p:txBody>
      </p:sp>
    </p:spTree>
    <p:extLst>
      <p:ext uri="{BB962C8B-B14F-4D97-AF65-F5344CB8AC3E}">
        <p14:creationId xmlns:p14="http://schemas.microsoft.com/office/powerpoint/2010/main" val="3780789162"/>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Shape 88">
          <a:extLst>
            <a:ext uri="{FF2B5EF4-FFF2-40B4-BE49-F238E27FC236}">
              <a16:creationId xmlns:a16="http://schemas.microsoft.com/office/drawing/2014/main" id="{DF66E3A9-E17A-2FF6-2731-B5BF56C47B90}"/>
            </a:ext>
          </a:extLst>
        </p:cNvPr>
        <p:cNvGrpSpPr/>
        <p:nvPr/>
      </p:nvGrpSpPr>
      <p:grpSpPr>
        <a:xfrm>
          <a:off x="0" y="0"/>
          <a:ext cx="0" cy="0"/>
          <a:chOff x="0" y="0"/>
          <a:chExt cx="0" cy="0"/>
        </a:xfrm>
      </p:grpSpPr>
      <p:pic>
        <p:nvPicPr>
          <p:cNvPr id="95" name="Picture 94">
            <a:extLst>
              <a:ext uri="{FF2B5EF4-FFF2-40B4-BE49-F238E27FC236}">
                <a16:creationId xmlns:a16="http://schemas.microsoft.com/office/drawing/2014/main" id="{26AA7C31-76FD-4B44-A1FF-D13D2515AE5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123845" y="1578901"/>
            <a:ext cx="7020154" cy="3564599"/>
          </a:xfrm>
          <a:prstGeom prst="rect">
            <a:avLst/>
          </a:prstGeom>
        </p:spPr>
      </p:pic>
      <p:pic>
        <p:nvPicPr>
          <p:cNvPr id="97" name="Picture 96">
            <a:extLst>
              <a:ext uri="{FF2B5EF4-FFF2-40B4-BE49-F238E27FC236}">
                <a16:creationId xmlns:a16="http://schemas.microsoft.com/office/drawing/2014/main" id="{F5CE85F9-F4EE-4E5D-8235-528527A401D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p:nvSpPr>
          <p:cNvPr id="99" name="Rectangle 98">
            <a:extLst>
              <a:ext uri="{FF2B5EF4-FFF2-40B4-BE49-F238E27FC236}">
                <a16:creationId xmlns:a16="http://schemas.microsoft.com/office/drawing/2014/main" id="{17338BB4-74FF-4836-86B7-F1B0C2B62D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1" name="Rectangle 100">
            <a:extLst>
              <a:ext uri="{FF2B5EF4-FFF2-40B4-BE49-F238E27FC236}">
                <a16:creationId xmlns:a16="http://schemas.microsoft.com/office/drawing/2014/main" id="{1ABFA8A3-A231-4BC1-B8A5-C5BE7315CD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 name="Rectangle 102">
            <a:extLst>
              <a:ext uri="{FF2B5EF4-FFF2-40B4-BE49-F238E27FC236}">
                <a16:creationId xmlns:a16="http://schemas.microsoft.com/office/drawing/2014/main" id="{4D747E59-EDB0-47FA-899B-0621ED112E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5" name="Rectangle 104">
            <a:extLst>
              <a:ext uri="{FF2B5EF4-FFF2-40B4-BE49-F238E27FC236}">
                <a16:creationId xmlns:a16="http://schemas.microsoft.com/office/drawing/2014/main" id="{C2629343-044F-4737-89E9-3E17903419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7" name="TextBox 106">
            <a:extLst>
              <a:ext uri="{FF2B5EF4-FFF2-40B4-BE49-F238E27FC236}">
                <a16:creationId xmlns:a16="http://schemas.microsoft.com/office/drawing/2014/main" id="{C9B9C8E0-18D9-430D-B171-939E0EEEBAB2}"/>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480918"/>
            <a:ext cx="311727" cy="276999"/>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109" name="Rectangle 108">
            <a:extLst>
              <a:ext uri="{FF2B5EF4-FFF2-40B4-BE49-F238E27FC236}">
                <a16:creationId xmlns:a16="http://schemas.microsoft.com/office/drawing/2014/main" id="{796AFA90-1DF2-427D-B002-A09D93A15D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2400" cy="514146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1" name="Picture 110">
            <a:extLst>
              <a:ext uri="{FF2B5EF4-FFF2-40B4-BE49-F238E27FC236}">
                <a16:creationId xmlns:a16="http://schemas.microsoft.com/office/drawing/2014/main" id="{805602A8-6E8C-46E5-8FDD-2BC227550EB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123845" y="1578901"/>
            <a:ext cx="7020154" cy="3564599"/>
          </a:xfrm>
          <a:prstGeom prst="rect">
            <a:avLst/>
          </a:prstGeom>
        </p:spPr>
      </p:pic>
      <p:pic>
        <p:nvPicPr>
          <p:cNvPr id="113" name="Picture 112">
            <a:extLst>
              <a:ext uri="{FF2B5EF4-FFF2-40B4-BE49-F238E27FC236}">
                <a16:creationId xmlns:a16="http://schemas.microsoft.com/office/drawing/2014/main" id="{BB2E129B-3512-41A6-94F1-4B4FEA8178C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p:nvSpPr>
          <p:cNvPr id="115" name="Rectangle 114">
            <a:extLst>
              <a:ext uri="{FF2B5EF4-FFF2-40B4-BE49-F238E27FC236}">
                <a16:creationId xmlns:a16="http://schemas.microsoft.com/office/drawing/2014/main" id="{891C00A1-D917-4D03-B713-9881557CEF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1BA3F0C2-72FC-4945-8B22-3BE47B3972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3410D66C-3847-4B32-B505-01B23358B6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649" y="0"/>
            <a:ext cx="7783501"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Google Shape;89;p29">
            <a:extLst>
              <a:ext uri="{FF2B5EF4-FFF2-40B4-BE49-F238E27FC236}">
                <a16:creationId xmlns:a16="http://schemas.microsoft.com/office/drawing/2014/main" id="{D0F91EE8-1EF3-8E37-4216-81676EB4A573}"/>
              </a:ext>
            </a:extLst>
          </p:cNvPr>
          <p:cNvSpPr txBox="1">
            <a:spLocks noGrp="1"/>
          </p:cNvSpPr>
          <p:nvPr>
            <p:ph type="ctrTitle" idx="4294967295"/>
          </p:nvPr>
        </p:nvSpPr>
        <p:spPr>
          <a:xfrm>
            <a:off x="786049" y="0"/>
            <a:ext cx="3285008" cy="1413963"/>
          </a:xfrm>
          <a:prstGeom prst="rect">
            <a:avLst/>
          </a:prstGeom>
        </p:spPr>
        <p:txBody>
          <a:bodyPr spcFirstLastPara="1" vert="horz" lIns="91440" tIns="45720" rIns="91440" bIns="45720" rtlCol="0" anchor="t" anchorCtr="0">
            <a:normAutofit/>
          </a:bodyPr>
          <a:lstStyle/>
          <a:p>
            <a:pPr lvl="0" algn="l" defTabSz="914400">
              <a:buClr>
                <a:schemeClr val="dk1"/>
              </a:buClr>
              <a:buSzPts val="1100"/>
            </a:pPr>
            <a:r>
              <a:rPr lang="en-US" sz="1900" b="1" dirty="0"/>
              <a:t>Document Understanding &amp; Custom Extractor</a:t>
            </a:r>
            <a:endParaRPr lang="en-US" sz="1900" b="1" dirty="0">
              <a:sym typeface="Inter"/>
            </a:endParaRPr>
          </a:p>
        </p:txBody>
      </p:sp>
      <p:sp>
        <p:nvSpPr>
          <p:cNvPr id="90" name="Google Shape;90;p29">
            <a:extLst>
              <a:ext uri="{FF2B5EF4-FFF2-40B4-BE49-F238E27FC236}">
                <a16:creationId xmlns:a16="http://schemas.microsoft.com/office/drawing/2014/main" id="{3F698694-66E3-4341-305B-732A04E93139}"/>
              </a:ext>
            </a:extLst>
          </p:cNvPr>
          <p:cNvSpPr txBox="1">
            <a:spLocks noGrp="1"/>
          </p:cNvSpPr>
          <p:nvPr>
            <p:ph type="subTitle" idx="4294967295"/>
          </p:nvPr>
        </p:nvSpPr>
        <p:spPr>
          <a:xfrm>
            <a:off x="763573" y="1539087"/>
            <a:ext cx="3285008" cy="2998371"/>
          </a:xfrm>
          <a:prstGeom prst="rect">
            <a:avLst/>
          </a:prstGeom>
        </p:spPr>
        <p:txBody>
          <a:bodyPr spcFirstLastPara="1" vert="horz" lIns="91440" tIns="45720" rIns="91440" bIns="45720" rtlCol="0" anchor="ctr" anchorCtr="0">
            <a:noAutofit/>
          </a:bodyPr>
          <a:lstStyle/>
          <a:p>
            <a:pPr marL="0" indent="0" defTabSz="914400">
              <a:lnSpc>
                <a:spcPct val="100000"/>
              </a:lnSpc>
              <a:spcBef>
                <a:spcPts val="50"/>
              </a:spcBef>
              <a:spcAft>
                <a:spcPts val="600"/>
              </a:spcAft>
              <a:buNone/>
            </a:pPr>
            <a:r>
              <a:rPr lang="en-US" sz="1100" dirty="0"/>
              <a:t>A custom generative extractor was configured to extract key shipment data from rate confirmations, which often vary in format across different brokers.</a:t>
            </a:r>
          </a:p>
          <a:p>
            <a:pPr marL="0" indent="0" defTabSz="914400">
              <a:lnSpc>
                <a:spcPct val="100000"/>
              </a:lnSpc>
              <a:spcBef>
                <a:spcPts val="50"/>
              </a:spcBef>
              <a:spcAft>
                <a:spcPts val="600"/>
              </a:spcAft>
              <a:buNone/>
            </a:pPr>
            <a:r>
              <a:rPr lang="en-US" sz="1100" b="1" dirty="0"/>
              <a:t>Key Points:</a:t>
            </a:r>
          </a:p>
          <a:p>
            <a:pPr marL="285750" indent="-285750" defTabSz="914400">
              <a:lnSpc>
                <a:spcPct val="100000"/>
              </a:lnSpc>
              <a:spcBef>
                <a:spcPts val="50"/>
              </a:spcBef>
              <a:spcAft>
                <a:spcPts val="600"/>
              </a:spcAft>
            </a:pPr>
            <a:r>
              <a:rPr lang="en-US" sz="1100" dirty="0"/>
              <a:t>Uses Document Understanding to process unstructured PDF documents </a:t>
            </a:r>
          </a:p>
          <a:p>
            <a:pPr marL="285750" indent="-285750" defTabSz="914400">
              <a:lnSpc>
                <a:spcPct val="100000"/>
              </a:lnSpc>
              <a:spcBef>
                <a:spcPts val="50"/>
              </a:spcBef>
              <a:spcAft>
                <a:spcPts val="600"/>
              </a:spcAft>
            </a:pPr>
            <a:r>
              <a:rPr lang="en-US" sz="1100" dirty="0"/>
              <a:t>Custom fields defined for logistics-specific data: </a:t>
            </a:r>
          </a:p>
          <a:p>
            <a:pPr marL="285750" lvl="1" indent="-285750" defTabSz="914400">
              <a:lnSpc>
                <a:spcPct val="100000"/>
              </a:lnSpc>
              <a:spcBef>
                <a:spcPts val="50"/>
              </a:spcBef>
              <a:spcAft>
                <a:spcPts val="600"/>
              </a:spcAft>
            </a:pPr>
            <a:r>
              <a:rPr lang="en-US" sz="1100" dirty="0"/>
              <a:t>Load number </a:t>
            </a:r>
          </a:p>
          <a:p>
            <a:pPr marL="285750" lvl="1" indent="-285750" defTabSz="914400">
              <a:lnSpc>
                <a:spcPct val="100000"/>
              </a:lnSpc>
              <a:spcBef>
                <a:spcPts val="50"/>
              </a:spcBef>
              <a:spcAft>
                <a:spcPts val="600"/>
              </a:spcAft>
            </a:pPr>
            <a:r>
              <a:rPr lang="en-US" sz="1100" dirty="0"/>
              <a:t>Pickup &amp; delivery locations </a:t>
            </a:r>
          </a:p>
          <a:p>
            <a:pPr marL="285750" lvl="1" indent="-285750" defTabSz="914400">
              <a:lnSpc>
                <a:spcPct val="100000"/>
              </a:lnSpc>
              <a:spcBef>
                <a:spcPts val="50"/>
              </a:spcBef>
              <a:spcAft>
                <a:spcPts val="600"/>
              </a:spcAft>
            </a:pPr>
            <a:r>
              <a:rPr lang="en-US" sz="1100" dirty="0"/>
              <a:t>Dates </a:t>
            </a:r>
          </a:p>
          <a:p>
            <a:pPr marL="285750" lvl="1" indent="-285750" defTabSz="914400">
              <a:lnSpc>
                <a:spcPct val="100000"/>
              </a:lnSpc>
              <a:spcBef>
                <a:spcPts val="50"/>
              </a:spcBef>
              <a:spcAft>
                <a:spcPts val="600"/>
              </a:spcAft>
            </a:pPr>
            <a:r>
              <a:rPr lang="en-US" sz="1100" dirty="0"/>
              <a:t>Rate </a:t>
            </a:r>
          </a:p>
          <a:p>
            <a:pPr marL="285750" indent="-285750" defTabSz="914400">
              <a:lnSpc>
                <a:spcPct val="100000"/>
              </a:lnSpc>
              <a:spcBef>
                <a:spcPts val="50"/>
              </a:spcBef>
              <a:spcAft>
                <a:spcPts val="600"/>
              </a:spcAft>
            </a:pPr>
            <a:r>
              <a:rPr lang="en-US" sz="1100" dirty="0"/>
              <a:t>Generative extractor used for flexibility across different formats </a:t>
            </a:r>
          </a:p>
          <a:p>
            <a:pPr marL="285750" indent="-285750" defTabSz="914400">
              <a:lnSpc>
                <a:spcPct val="100000"/>
              </a:lnSpc>
              <a:spcBef>
                <a:spcPts val="50"/>
              </a:spcBef>
              <a:spcAft>
                <a:spcPts val="600"/>
              </a:spcAft>
            </a:pPr>
            <a:r>
              <a:rPr lang="en-US" sz="1100" dirty="0"/>
              <a:t>Designed to handle varying document quality and layouts</a:t>
            </a:r>
          </a:p>
          <a:p>
            <a:pPr marL="0" indent="0" defTabSz="914400">
              <a:lnSpc>
                <a:spcPct val="100000"/>
              </a:lnSpc>
              <a:spcBef>
                <a:spcPts val="50"/>
              </a:spcBef>
              <a:spcAft>
                <a:spcPts val="600"/>
              </a:spcAft>
              <a:buNone/>
            </a:pPr>
            <a:r>
              <a:rPr lang="en-US" sz="1100" dirty="0"/>
              <a:t>Custom extractor enables accurate data extraction even from non-standard documents.</a:t>
            </a:r>
          </a:p>
          <a:p>
            <a:pPr defTabSz="914400">
              <a:lnSpc>
                <a:spcPct val="100000"/>
              </a:lnSpc>
              <a:spcBef>
                <a:spcPts val="50"/>
              </a:spcBef>
              <a:spcAft>
                <a:spcPts val="600"/>
              </a:spcAft>
            </a:pPr>
            <a:endParaRPr lang="en-US" sz="1100" dirty="0">
              <a:sym typeface="Inter"/>
            </a:endParaRPr>
          </a:p>
        </p:txBody>
      </p:sp>
      <p:sp>
        <p:nvSpPr>
          <p:cNvPr id="121" name="Rectangle 120">
            <a:extLst>
              <a:ext uri="{FF2B5EF4-FFF2-40B4-BE49-F238E27FC236}">
                <a16:creationId xmlns:a16="http://schemas.microsoft.com/office/drawing/2014/main" id="{C43DB4DB-4F6A-4E8D-B9A3-74E5A84537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83485" y="0"/>
            <a:ext cx="4457657"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4C22C052-4B2B-A79F-D0C9-FE12D0CE263D}"/>
              </a:ext>
            </a:extLst>
          </p:cNvPr>
          <p:cNvPicPr>
            <a:picLocks noChangeAspect="1"/>
          </p:cNvPicPr>
          <p:nvPr/>
        </p:nvPicPr>
        <p:blipFill>
          <a:blip r:embed="rId6"/>
          <a:srcRect b="5382"/>
          <a:stretch>
            <a:fillRect/>
          </a:stretch>
        </p:blipFill>
        <p:spPr>
          <a:xfrm>
            <a:off x="4705427" y="237364"/>
            <a:ext cx="3205011" cy="2213736"/>
          </a:xfrm>
          <a:prstGeom prst="rect">
            <a:avLst/>
          </a:prstGeom>
          <a:ln w="12700">
            <a:noFill/>
          </a:ln>
        </p:spPr>
      </p:pic>
      <p:sp>
        <p:nvSpPr>
          <p:cNvPr id="123" name="Rectangle 122">
            <a:extLst>
              <a:ext uri="{FF2B5EF4-FFF2-40B4-BE49-F238E27FC236}">
                <a16:creationId xmlns:a16="http://schemas.microsoft.com/office/drawing/2014/main" id="{431FCBDC-FCD6-46FA-989A-9B74968965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61867" y="174344"/>
            <a:ext cx="4084835" cy="2335755"/>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89D8133C-2318-0EDD-8188-23AB38200BDB}"/>
              </a:ext>
            </a:extLst>
          </p:cNvPr>
          <p:cNvPicPr>
            <a:picLocks noChangeAspect="1"/>
          </p:cNvPicPr>
          <p:nvPr/>
        </p:nvPicPr>
        <p:blipFill>
          <a:blip r:embed="rId7"/>
          <a:stretch>
            <a:fillRect/>
          </a:stretch>
        </p:blipFill>
        <p:spPr>
          <a:xfrm>
            <a:off x="4689666" y="2688435"/>
            <a:ext cx="3236532" cy="2208933"/>
          </a:xfrm>
          <a:prstGeom prst="rect">
            <a:avLst/>
          </a:prstGeom>
          <a:ln w="12700">
            <a:noFill/>
          </a:ln>
        </p:spPr>
      </p:pic>
      <p:sp>
        <p:nvSpPr>
          <p:cNvPr id="125" name="Rectangle 124">
            <a:extLst>
              <a:ext uri="{FF2B5EF4-FFF2-40B4-BE49-F238E27FC236}">
                <a16:creationId xmlns:a16="http://schemas.microsoft.com/office/drawing/2014/main" id="{C66EB2AB-6794-4C3C-A92D-4876AB0BEF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61867" y="2625626"/>
            <a:ext cx="4084835" cy="2335755"/>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a:extLst>
              <a:ext uri="{FF2B5EF4-FFF2-40B4-BE49-F238E27FC236}">
                <a16:creationId xmlns:a16="http://schemas.microsoft.com/office/drawing/2014/main" id="{A34BD4E6-C736-4064-AF1F-3C5B402E1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40749" y="-2038"/>
            <a:ext cx="20574" cy="51434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342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Shape 88">
          <a:extLst>
            <a:ext uri="{FF2B5EF4-FFF2-40B4-BE49-F238E27FC236}">
              <a16:creationId xmlns:a16="http://schemas.microsoft.com/office/drawing/2014/main" id="{3FC22466-A3F6-83EB-8101-A3EC2F3354D5}"/>
            </a:ext>
          </a:extLst>
        </p:cNvPr>
        <p:cNvGrpSpPr/>
        <p:nvPr/>
      </p:nvGrpSpPr>
      <p:grpSpPr>
        <a:xfrm>
          <a:off x="0" y="0"/>
          <a:ext cx="0" cy="0"/>
          <a:chOff x="0" y="0"/>
          <a:chExt cx="0" cy="0"/>
        </a:xfrm>
      </p:grpSpPr>
      <p:pic>
        <p:nvPicPr>
          <p:cNvPr id="95" name="Picture 94">
            <a:extLst>
              <a:ext uri="{FF2B5EF4-FFF2-40B4-BE49-F238E27FC236}">
                <a16:creationId xmlns:a16="http://schemas.microsoft.com/office/drawing/2014/main" id="{01AF5FBB-9FDC-4D75-9DD6-DAF01ED197A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123845" y="1578901"/>
            <a:ext cx="7020154" cy="3564599"/>
          </a:xfrm>
          <a:prstGeom prst="rect">
            <a:avLst/>
          </a:prstGeom>
        </p:spPr>
      </p:pic>
      <p:pic>
        <p:nvPicPr>
          <p:cNvPr id="97" name="Picture 96">
            <a:extLst>
              <a:ext uri="{FF2B5EF4-FFF2-40B4-BE49-F238E27FC236}">
                <a16:creationId xmlns:a16="http://schemas.microsoft.com/office/drawing/2014/main" id="{933BBBE6-F4CF-483E-BA74-B51421B4D9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p:nvSpPr>
          <p:cNvPr id="99" name="Rectangle 98">
            <a:extLst>
              <a:ext uri="{FF2B5EF4-FFF2-40B4-BE49-F238E27FC236}">
                <a16:creationId xmlns:a16="http://schemas.microsoft.com/office/drawing/2014/main" id="{4C790028-99AE-4AE4-8269-9913E2D50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1" name="Rectangle 100">
            <a:extLst>
              <a:ext uri="{FF2B5EF4-FFF2-40B4-BE49-F238E27FC236}">
                <a16:creationId xmlns:a16="http://schemas.microsoft.com/office/drawing/2014/main" id="{06936A2A-FE08-4EE0-A409-3EF3FA244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 name="Rectangle 102">
            <a:extLst>
              <a:ext uri="{FF2B5EF4-FFF2-40B4-BE49-F238E27FC236}">
                <a16:creationId xmlns:a16="http://schemas.microsoft.com/office/drawing/2014/main" id="{E1F0989E-BFBB-43E4-927B-2C51C7AE26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5" name="Rectangle 104">
            <a:extLst>
              <a:ext uri="{FF2B5EF4-FFF2-40B4-BE49-F238E27FC236}">
                <a16:creationId xmlns:a16="http://schemas.microsoft.com/office/drawing/2014/main" id="{8ACA2469-91AA-459B-A5DD-8FFC0F70E0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7" name="TextBox 106">
            <a:extLst>
              <a:ext uri="{FF2B5EF4-FFF2-40B4-BE49-F238E27FC236}">
                <a16:creationId xmlns:a16="http://schemas.microsoft.com/office/drawing/2014/main" id="{97860FD2-CA19-4064-AA6F-68050C3D2011}"/>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480918"/>
            <a:ext cx="311727" cy="276999"/>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109" name="Rectangle 108">
            <a:extLst>
              <a:ext uri="{FF2B5EF4-FFF2-40B4-BE49-F238E27FC236}">
                <a16:creationId xmlns:a16="http://schemas.microsoft.com/office/drawing/2014/main" id="{8BEDFD2F-1480-498D-9A62-BA55B14A3B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2400" cy="514146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1" name="Picture 110">
            <a:extLst>
              <a:ext uri="{FF2B5EF4-FFF2-40B4-BE49-F238E27FC236}">
                <a16:creationId xmlns:a16="http://schemas.microsoft.com/office/drawing/2014/main" id="{52D381FB-9400-4C85-9074-8D2C4A88D8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123845" y="1578901"/>
            <a:ext cx="7020154" cy="3564599"/>
          </a:xfrm>
          <a:prstGeom prst="rect">
            <a:avLst/>
          </a:prstGeom>
        </p:spPr>
      </p:pic>
      <p:pic>
        <p:nvPicPr>
          <p:cNvPr id="113" name="Picture 112">
            <a:extLst>
              <a:ext uri="{FF2B5EF4-FFF2-40B4-BE49-F238E27FC236}">
                <a16:creationId xmlns:a16="http://schemas.microsoft.com/office/drawing/2014/main" id="{048C39C2-D375-4197-8882-9EBD58C853C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p:nvSpPr>
          <p:cNvPr id="115" name="Rectangle 114">
            <a:extLst>
              <a:ext uri="{FF2B5EF4-FFF2-40B4-BE49-F238E27FC236}">
                <a16:creationId xmlns:a16="http://schemas.microsoft.com/office/drawing/2014/main" id="{C306EEC9-6E83-4555-A9D3-7910ED27B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186F7B80-3B04-4C72-BA77-E34EF7FAC9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4D1AC6C6-FE68-4B13-BFCF-D0E8B3D817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649" y="0"/>
            <a:ext cx="7783501"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Google Shape;89;p29">
            <a:extLst>
              <a:ext uri="{FF2B5EF4-FFF2-40B4-BE49-F238E27FC236}">
                <a16:creationId xmlns:a16="http://schemas.microsoft.com/office/drawing/2014/main" id="{F8FA7D4B-8B67-0594-3300-4CA413581ABB}"/>
              </a:ext>
            </a:extLst>
          </p:cNvPr>
          <p:cNvSpPr txBox="1">
            <a:spLocks noGrp="1"/>
          </p:cNvSpPr>
          <p:nvPr>
            <p:ph type="ctrTitle" idx="4294967295"/>
          </p:nvPr>
        </p:nvSpPr>
        <p:spPr>
          <a:xfrm>
            <a:off x="763573" y="-2039"/>
            <a:ext cx="3205412" cy="807921"/>
          </a:xfrm>
          <a:prstGeom prst="rect">
            <a:avLst/>
          </a:prstGeom>
        </p:spPr>
        <p:txBody>
          <a:bodyPr spcFirstLastPara="1" vert="horz" lIns="91440" tIns="45720" rIns="91440" bIns="45720" rtlCol="0" anchor="t" anchorCtr="0">
            <a:normAutofit/>
          </a:bodyPr>
          <a:lstStyle/>
          <a:p>
            <a:pPr lvl="0" algn="l" defTabSz="914400">
              <a:buClr>
                <a:schemeClr val="dk1"/>
              </a:buClr>
              <a:buSzPts val="1100"/>
            </a:pPr>
            <a:r>
              <a:rPr lang="en-US" sz="2400" b="1" dirty="0"/>
              <a:t>AI-Powered Mileage Calculation</a:t>
            </a:r>
            <a:endParaRPr lang="en-US" sz="2400" b="1" dirty="0">
              <a:sym typeface="Inter"/>
            </a:endParaRPr>
          </a:p>
        </p:txBody>
      </p:sp>
      <p:sp>
        <p:nvSpPr>
          <p:cNvPr id="90" name="Google Shape;90;p29">
            <a:extLst>
              <a:ext uri="{FF2B5EF4-FFF2-40B4-BE49-F238E27FC236}">
                <a16:creationId xmlns:a16="http://schemas.microsoft.com/office/drawing/2014/main" id="{8C45D755-1293-FE85-E6E5-F57159F79256}"/>
              </a:ext>
            </a:extLst>
          </p:cNvPr>
          <p:cNvSpPr txBox="1">
            <a:spLocks noGrp="1"/>
          </p:cNvSpPr>
          <p:nvPr>
            <p:ph type="subTitle" idx="4294967295"/>
          </p:nvPr>
        </p:nvSpPr>
        <p:spPr>
          <a:xfrm>
            <a:off x="761974" y="755249"/>
            <a:ext cx="3207011" cy="4203760"/>
          </a:xfrm>
          <a:prstGeom prst="rect">
            <a:avLst/>
          </a:prstGeom>
        </p:spPr>
        <p:txBody>
          <a:bodyPr spcFirstLastPara="1" vert="horz" lIns="91440" tIns="45720" rIns="91440" bIns="45720" rtlCol="0" anchor="ctr" anchorCtr="0">
            <a:noAutofit/>
          </a:bodyPr>
          <a:lstStyle/>
          <a:p>
            <a:pPr marL="0" indent="0" defTabSz="914400">
              <a:lnSpc>
                <a:spcPct val="110000"/>
              </a:lnSpc>
              <a:spcBef>
                <a:spcPts val="50"/>
              </a:spcBef>
              <a:spcAft>
                <a:spcPts val="600"/>
              </a:spcAft>
              <a:buNone/>
            </a:pPr>
            <a:endParaRPr lang="en-US" sz="1200" dirty="0"/>
          </a:p>
          <a:p>
            <a:pPr marL="0" indent="0" defTabSz="914400">
              <a:lnSpc>
                <a:spcPct val="110000"/>
              </a:lnSpc>
              <a:spcBef>
                <a:spcPts val="50"/>
              </a:spcBef>
              <a:spcAft>
                <a:spcPts val="600"/>
              </a:spcAft>
              <a:buNone/>
            </a:pPr>
            <a:r>
              <a:rPr lang="en-US" sz="1200" dirty="0"/>
              <a:t>LLM-based mileage estimation was implemented as a lightweight AI enrichment approach during initial workflow prototyping.</a:t>
            </a:r>
          </a:p>
          <a:p>
            <a:pPr marL="0" indent="0" defTabSz="914400">
              <a:lnSpc>
                <a:spcPct val="110000"/>
              </a:lnSpc>
              <a:spcBef>
                <a:spcPts val="50"/>
              </a:spcBef>
              <a:spcAft>
                <a:spcPts val="600"/>
              </a:spcAft>
              <a:buNone/>
            </a:pPr>
            <a:r>
              <a:rPr lang="en-US" sz="1200" b="1" dirty="0"/>
              <a:t>Key Points:</a:t>
            </a:r>
          </a:p>
          <a:p>
            <a:pPr marL="285750" indent="-285750" defTabSz="914400">
              <a:lnSpc>
                <a:spcPct val="110000"/>
              </a:lnSpc>
              <a:spcBef>
                <a:spcPts val="50"/>
              </a:spcBef>
              <a:spcAft>
                <a:spcPts val="600"/>
              </a:spcAft>
            </a:pPr>
            <a:r>
              <a:rPr lang="en-US" sz="1200" dirty="0"/>
              <a:t>Uses pickup and delivery locations extracted from documents </a:t>
            </a:r>
          </a:p>
          <a:p>
            <a:pPr marL="285750" indent="-285750" defTabSz="914400">
              <a:lnSpc>
                <a:spcPct val="110000"/>
              </a:lnSpc>
              <a:spcBef>
                <a:spcPts val="50"/>
              </a:spcBef>
              <a:spcAft>
                <a:spcPts val="600"/>
              </a:spcAft>
            </a:pPr>
            <a:r>
              <a:rPr lang="en-US" sz="1200" dirty="0"/>
              <a:t>Sends structured prompt to LLM </a:t>
            </a:r>
          </a:p>
          <a:p>
            <a:pPr marL="285750" indent="-285750" defTabSz="914400">
              <a:lnSpc>
                <a:spcPct val="110000"/>
              </a:lnSpc>
              <a:spcBef>
                <a:spcPts val="50"/>
              </a:spcBef>
              <a:spcAft>
                <a:spcPts val="600"/>
              </a:spcAft>
            </a:pPr>
            <a:r>
              <a:rPr lang="en-US" sz="1200" dirty="0"/>
              <a:t>Returns estimated mileage for each trip </a:t>
            </a:r>
          </a:p>
          <a:p>
            <a:pPr marL="285750" indent="-285750" defTabSz="914400">
              <a:lnSpc>
                <a:spcPct val="110000"/>
              </a:lnSpc>
              <a:spcBef>
                <a:spcPts val="50"/>
              </a:spcBef>
              <a:spcAft>
                <a:spcPts val="600"/>
              </a:spcAft>
            </a:pPr>
            <a:r>
              <a:rPr lang="en-US" sz="1200" dirty="0"/>
              <a:t>Eliminates manual lookup in tools like Google Maps </a:t>
            </a:r>
          </a:p>
          <a:p>
            <a:pPr marL="285750" indent="-285750" defTabSz="914400">
              <a:lnSpc>
                <a:spcPct val="110000"/>
              </a:lnSpc>
              <a:spcBef>
                <a:spcPts val="50"/>
              </a:spcBef>
              <a:spcAft>
                <a:spcPts val="600"/>
              </a:spcAft>
            </a:pPr>
            <a:r>
              <a:rPr lang="en-US" sz="1200" dirty="0"/>
              <a:t>Ensures consistent and fast calculation</a:t>
            </a:r>
          </a:p>
          <a:p>
            <a:pPr defTabSz="914400">
              <a:lnSpc>
                <a:spcPct val="110000"/>
              </a:lnSpc>
              <a:spcBef>
                <a:spcPts val="50"/>
              </a:spcBef>
              <a:spcAft>
                <a:spcPts val="600"/>
              </a:spcAft>
            </a:pPr>
            <a:endParaRPr lang="en-US" sz="1200" dirty="0"/>
          </a:p>
          <a:p>
            <a:pPr marL="0" indent="0" defTabSz="914400">
              <a:lnSpc>
                <a:spcPct val="110000"/>
              </a:lnSpc>
              <a:spcBef>
                <a:spcPts val="50"/>
              </a:spcBef>
              <a:spcAft>
                <a:spcPts val="600"/>
              </a:spcAft>
              <a:buNone/>
            </a:pPr>
            <a:r>
              <a:rPr lang="en-US" sz="1200" dirty="0"/>
              <a:t>AI transforms extracted location data into actionable operational metrics.</a:t>
            </a:r>
          </a:p>
          <a:p>
            <a:pPr defTabSz="914400">
              <a:lnSpc>
                <a:spcPct val="110000"/>
              </a:lnSpc>
              <a:spcBef>
                <a:spcPts val="50"/>
              </a:spcBef>
              <a:spcAft>
                <a:spcPts val="600"/>
              </a:spcAft>
            </a:pPr>
            <a:endParaRPr lang="en-US" sz="1200" dirty="0"/>
          </a:p>
        </p:txBody>
      </p:sp>
      <p:sp>
        <p:nvSpPr>
          <p:cNvPr id="121" name="Rectangle 120">
            <a:extLst>
              <a:ext uri="{FF2B5EF4-FFF2-40B4-BE49-F238E27FC236}">
                <a16:creationId xmlns:a16="http://schemas.microsoft.com/office/drawing/2014/main" id="{7E2C0214-1438-4F5F-8BB7-847D7B2B3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77113" y="0"/>
            <a:ext cx="4463131"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98C9213-BE1F-8940-2DE6-37EBDEA776DE}"/>
              </a:ext>
            </a:extLst>
          </p:cNvPr>
          <p:cNvPicPr>
            <a:picLocks noChangeAspect="1"/>
          </p:cNvPicPr>
          <p:nvPr/>
        </p:nvPicPr>
        <p:blipFill>
          <a:blip r:embed="rId6"/>
          <a:srcRect b="5553"/>
          <a:stretch>
            <a:fillRect/>
          </a:stretch>
        </p:blipFill>
        <p:spPr>
          <a:xfrm>
            <a:off x="4317039" y="1228390"/>
            <a:ext cx="3977982" cy="2686313"/>
          </a:xfrm>
          <a:prstGeom prst="rect">
            <a:avLst/>
          </a:prstGeom>
          <a:ln w="12700">
            <a:noFill/>
          </a:ln>
        </p:spPr>
      </p:pic>
      <p:sp>
        <p:nvSpPr>
          <p:cNvPr id="123" name="Rectangle 122">
            <a:extLst>
              <a:ext uri="{FF2B5EF4-FFF2-40B4-BE49-F238E27FC236}">
                <a16:creationId xmlns:a16="http://schemas.microsoft.com/office/drawing/2014/main" id="{41CFFB3C-DBCC-498B-B635-CD1FA730D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7033" y="180131"/>
            <a:ext cx="4095810" cy="4778878"/>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a:extLst>
              <a:ext uri="{FF2B5EF4-FFF2-40B4-BE49-F238E27FC236}">
                <a16:creationId xmlns:a16="http://schemas.microsoft.com/office/drawing/2014/main" id="{7BB289EA-43E0-4FC3-A38C-8168D8F18A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40749" y="-2038"/>
            <a:ext cx="20574" cy="51434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22281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8">
          <a:extLst>
            <a:ext uri="{FF2B5EF4-FFF2-40B4-BE49-F238E27FC236}">
              <a16:creationId xmlns:a16="http://schemas.microsoft.com/office/drawing/2014/main" id="{5AAD4B27-E066-498F-810A-F7E1268CB6E4}"/>
            </a:ext>
          </a:extLst>
        </p:cNvPr>
        <p:cNvGrpSpPr/>
        <p:nvPr/>
      </p:nvGrpSpPr>
      <p:grpSpPr>
        <a:xfrm>
          <a:off x="0" y="0"/>
          <a:ext cx="0" cy="0"/>
          <a:chOff x="0" y="0"/>
          <a:chExt cx="0" cy="0"/>
        </a:xfrm>
      </p:grpSpPr>
      <p:pic>
        <p:nvPicPr>
          <p:cNvPr id="95" name="Picture 94">
            <a:extLst>
              <a:ext uri="{FF2B5EF4-FFF2-40B4-BE49-F238E27FC236}">
                <a16:creationId xmlns:a16="http://schemas.microsoft.com/office/drawing/2014/main" id="{3DBBA26C-89C3-411F-9753-606A413F89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1578901"/>
            <a:ext cx="7020154" cy="3564599"/>
          </a:xfrm>
          <a:prstGeom prst="rect">
            <a:avLst/>
          </a:prstGeom>
        </p:spPr>
      </p:pic>
      <p:pic>
        <p:nvPicPr>
          <p:cNvPr id="97" name="Picture 96">
            <a:extLst>
              <a:ext uri="{FF2B5EF4-FFF2-40B4-BE49-F238E27FC236}">
                <a16:creationId xmlns:a16="http://schemas.microsoft.com/office/drawing/2014/main" id="{EEAD2215-6311-4D1C-B6B5-F57CB6BFCBC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p:nvSpPr>
          <p:cNvPr id="99" name="Rectangle 98">
            <a:extLst>
              <a:ext uri="{FF2B5EF4-FFF2-40B4-BE49-F238E27FC236}">
                <a16:creationId xmlns:a16="http://schemas.microsoft.com/office/drawing/2014/main" id="{7BA5DE79-30D1-4A10-8DB9-0A6E523A97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1" name="Rectangle 100">
            <a:extLst>
              <a:ext uri="{FF2B5EF4-FFF2-40B4-BE49-F238E27FC236}">
                <a16:creationId xmlns:a16="http://schemas.microsoft.com/office/drawing/2014/main" id="{9ABD0D63-D23F-4AE7-8270-4185EF9C1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 name="Rectangle 102">
            <a:extLst>
              <a:ext uri="{FF2B5EF4-FFF2-40B4-BE49-F238E27FC236}">
                <a16:creationId xmlns:a16="http://schemas.microsoft.com/office/drawing/2014/main" id="{D5B0B43F-2CE7-4C6C-BABC-EE342B3282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5" name="Rectangle 104">
            <a:extLst>
              <a:ext uri="{FF2B5EF4-FFF2-40B4-BE49-F238E27FC236}">
                <a16:creationId xmlns:a16="http://schemas.microsoft.com/office/drawing/2014/main" id="{85459F07-63F9-48CF-B725-A873C4BC3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7" name="TextBox 106">
            <a:extLst>
              <a:ext uri="{FF2B5EF4-FFF2-40B4-BE49-F238E27FC236}">
                <a16:creationId xmlns:a16="http://schemas.microsoft.com/office/drawing/2014/main" id="{14B83E1E-DAC1-4851-84FF-D6FE1649DE0B}"/>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480918"/>
            <a:ext cx="311727" cy="276999"/>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pic>
        <p:nvPicPr>
          <p:cNvPr id="109" name="Picture 108">
            <a:extLst>
              <a:ext uri="{FF2B5EF4-FFF2-40B4-BE49-F238E27FC236}">
                <a16:creationId xmlns:a16="http://schemas.microsoft.com/office/drawing/2014/main" id="{0214283E-D7B4-49E9-932E-D7F2A2847F1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useBgFill="1">
        <p:nvSpPr>
          <p:cNvPr id="111" name="Rectangle 110">
            <a:extLst>
              <a:ext uri="{FF2B5EF4-FFF2-40B4-BE49-F238E27FC236}">
                <a16:creationId xmlns:a16="http://schemas.microsoft.com/office/drawing/2014/main" id="{92806DFD-E192-42CC-B190-3C4C95B8FF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99" y="0"/>
            <a:ext cx="914240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3" name="Picture 112">
            <a:extLst>
              <a:ext uri="{FF2B5EF4-FFF2-40B4-BE49-F238E27FC236}">
                <a16:creationId xmlns:a16="http://schemas.microsoft.com/office/drawing/2014/main" id="{9FCFF961-4E84-4FD1-859C-B7F410031CB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6344" y="0"/>
            <a:ext cx="3474378" cy="5143500"/>
          </a:xfrm>
          <a:prstGeom prst="rect">
            <a:avLst/>
          </a:prstGeom>
        </p:spPr>
      </p:pic>
      <p:sp>
        <p:nvSpPr>
          <p:cNvPr id="89" name="Google Shape;89;p29">
            <a:extLst>
              <a:ext uri="{FF2B5EF4-FFF2-40B4-BE49-F238E27FC236}">
                <a16:creationId xmlns:a16="http://schemas.microsoft.com/office/drawing/2014/main" id="{CD3AD4A9-2F63-94F3-DCC4-A652E5B960B9}"/>
              </a:ext>
            </a:extLst>
          </p:cNvPr>
          <p:cNvSpPr txBox="1">
            <a:spLocks noGrp="1"/>
          </p:cNvSpPr>
          <p:nvPr>
            <p:ph type="ctrTitle" idx="4294967295"/>
          </p:nvPr>
        </p:nvSpPr>
        <p:spPr>
          <a:xfrm>
            <a:off x="912836" y="901292"/>
            <a:ext cx="2422016" cy="3340915"/>
          </a:xfrm>
          <a:prstGeom prst="rect">
            <a:avLst/>
          </a:prstGeom>
        </p:spPr>
        <p:txBody>
          <a:bodyPr spcFirstLastPara="1" vert="horz" lIns="91440" tIns="45720" rIns="91440" bIns="45720" rtlCol="0" anchor="ctr" anchorCtr="0">
            <a:normAutofit/>
          </a:bodyPr>
          <a:lstStyle/>
          <a:p>
            <a:pPr lvl="0" defTabSz="914400">
              <a:buClr>
                <a:schemeClr val="dk1"/>
              </a:buClr>
              <a:buSzPts val="1100"/>
            </a:pPr>
            <a:r>
              <a:rPr lang="en-US" sz="3000" b="1" dirty="0"/>
              <a:t>Data Mapping &amp; Debugging</a:t>
            </a:r>
            <a:endParaRPr lang="en-US" sz="3000" b="1" dirty="0">
              <a:sym typeface="Inter"/>
            </a:endParaRPr>
          </a:p>
        </p:txBody>
      </p:sp>
      <p:sp>
        <p:nvSpPr>
          <p:cNvPr id="115" name="Rectangle 114">
            <a:extLst>
              <a:ext uri="{FF2B5EF4-FFF2-40B4-BE49-F238E27FC236}">
                <a16:creationId xmlns:a16="http://schemas.microsoft.com/office/drawing/2014/main" id="{BB17FFD2-DBC7-4ABB-B2A0-7E18EC1B8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7" name="Rectangle 116">
            <a:extLst>
              <a:ext uri="{FF2B5EF4-FFF2-40B4-BE49-F238E27FC236}">
                <a16:creationId xmlns:a16="http://schemas.microsoft.com/office/drawing/2014/main" id="{DF737BB4-6553-47A8-893F-178A10C6B6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0" name="Google Shape;90;p29">
            <a:extLst>
              <a:ext uri="{FF2B5EF4-FFF2-40B4-BE49-F238E27FC236}">
                <a16:creationId xmlns:a16="http://schemas.microsoft.com/office/drawing/2014/main" id="{81EB8A8E-C241-059C-3607-EB6706CEBA01}"/>
              </a:ext>
            </a:extLst>
          </p:cNvPr>
          <p:cNvSpPr txBox="1">
            <a:spLocks noGrp="1"/>
          </p:cNvSpPr>
          <p:nvPr>
            <p:ph type="subTitle" idx="4294967295"/>
          </p:nvPr>
        </p:nvSpPr>
        <p:spPr>
          <a:xfrm>
            <a:off x="3647737" y="0"/>
            <a:ext cx="5096943" cy="5019472"/>
          </a:xfrm>
          <a:prstGeom prst="rect">
            <a:avLst/>
          </a:prstGeom>
        </p:spPr>
        <p:txBody>
          <a:bodyPr spcFirstLastPara="1" vert="horz" lIns="91440" tIns="45720" rIns="91440" bIns="45720" rtlCol="0" anchor="ctr" anchorCtr="0">
            <a:normAutofit/>
          </a:bodyPr>
          <a:lstStyle/>
          <a:p>
            <a:pPr marL="0" indent="0" defTabSz="914400">
              <a:lnSpc>
                <a:spcPct val="110000"/>
              </a:lnSpc>
              <a:spcAft>
                <a:spcPts val="600"/>
              </a:spcAft>
              <a:buNone/>
            </a:pPr>
            <a:r>
              <a:rPr lang="en-US" sz="1200" dirty="0"/>
              <a:t>Extracted and enriched data is mapped into a structured format before being written to the spreadsheet, with logging used to verify results and simplify debugging.</a:t>
            </a:r>
          </a:p>
          <a:p>
            <a:pPr defTabSz="914400">
              <a:lnSpc>
                <a:spcPct val="110000"/>
              </a:lnSpc>
              <a:spcAft>
                <a:spcPts val="600"/>
              </a:spcAft>
            </a:pPr>
            <a:endParaRPr lang="en-US" sz="1200" dirty="0"/>
          </a:p>
          <a:p>
            <a:pPr marL="0" indent="0" defTabSz="914400">
              <a:lnSpc>
                <a:spcPct val="110000"/>
              </a:lnSpc>
              <a:spcAft>
                <a:spcPts val="600"/>
              </a:spcAft>
              <a:buNone/>
            </a:pPr>
            <a:r>
              <a:rPr lang="en-US" sz="1200" b="1" dirty="0"/>
              <a:t>Key Points:</a:t>
            </a:r>
          </a:p>
          <a:p>
            <a:pPr marL="285750" indent="-285750" defTabSz="914400">
              <a:lnSpc>
                <a:spcPct val="110000"/>
              </a:lnSpc>
              <a:spcAft>
                <a:spcPts val="600"/>
              </a:spcAft>
            </a:pPr>
            <a:r>
              <a:rPr lang="en-US" sz="1200" dirty="0"/>
              <a:t>Extracted fields are mapped to structured output columns in the spreadsheet </a:t>
            </a:r>
          </a:p>
          <a:p>
            <a:pPr marL="285750" indent="-285750" defTabSz="914400">
              <a:lnSpc>
                <a:spcPct val="110000"/>
              </a:lnSpc>
              <a:spcAft>
                <a:spcPts val="600"/>
              </a:spcAft>
            </a:pPr>
            <a:r>
              <a:rPr lang="en-US" sz="1200" dirty="0"/>
              <a:t>Ensures consistent data format for reporting and analysis </a:t>
            </a:r>
          </a:p>
          <a:p>
            <a:pPr marL="285750" indent="-285750" defTabSz="914400">
              <a:lnSpc>
                <a:spcPct val="110000"/>
              </a:lnSpc>
              <a:spcAft>
                <a:spcPts val="600"/>
              </a:spcAft>
            </a:pPr>
            <a:r>
              <a:rPr lang="en-US" sz="1200" dirty="0"/>
              <a:t>Log messages used to verify extracted values before writing output </a:t>
            </a:r>
          </a:p>
          <a:p>
            <a:pPr marL="285750" indent="-285750" defTabSz="914400">
              <a:lnSpc>
                <a:spcPct val="110000"/>
              </a:lnSpc>
              <a:spcAft>
                <a:spcPts val="600"/>
              </a:spcAft>
            </a:pPr>
            <a:r>
              <a:rPr lang="en-US" sz="1200" dirty="0"/>
              <a:t>Helps quickly identify missing or incorrect data </a:t>
            </a:r>
          </a:p>
          <a:p>
            <a:pPr marL="285750" indent="-285750" defTabSz="914400">
              <a:lnSpc>
                <a:spcPct val="110000"/>
              </a:lnSpc>
              <a:spcAft>
                <a:spcPts val="600"/>
              </a:spcAft>
            </a:pPr>
            <a:r>
              <a:rPr lang="en-US" sz="1200" dirty="0"/>
              <a:t>Simplifies debugging and improves reliability of the workflow </a:t>
            </a:r>
          </a:p>
          <a:p>
            <a:pPr defTabSz="914400">
              <a:lnSpc>
                <a:spcPct val="110000"/>
              </a:lnSpc>
              <a:spcAft>
                <a:spcPts val="600"/>
              </a:spcAft>
            </a:pPr>
            <a:endParaRPr lang="en-US" sz="1200" dirty="0"/>
          </a:p>
          <a:p>
            <a:pPr marL="0" indent="0" defTabSz="914400">
              <a:lnSpc>
                <a:spcPct val="110000"/>
              </a:lnSpc>
              <a:spcAft>
                <a:spcPts val="600"/>
              </a:spcAft>
              <a:buNone/>
            </a:pPr>
            <a:r>
              <a:rPr lang="en-US" sz="1200" dirty="0"/>
              <a:t>Logging and structured mapping ensure transparency and make the automation easier to maintain and troubleshoot.</a:t>
            </a:r>
          </a:p>
        </p:txBody>
      </p:sp>
    </p:spTree>
    <p:extLst>
      <p:ext uri="{BB962C8B-B14F-4D97-AF65-F5344CB8AC3E}">
        <p14:creationId xmlns:p14="http://schemas.microsoft.com/office/powerpoint/2010/main" val="1178380000"/>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Shape 88">
          <a:extLst>
            <a:ext uri="{FF2B5EF4-FFF2-40B4-BE49-F238E27FC236}">
              <a16:creationId xmlns:a16="http://schemas.microsoft.com/office/drawing/2014/main" id="{67D945FE-6526-4C32-CBD7-36219A1E3F86}"/>
            </a:ext>
          </a:extLst>
        </p:cNvPr>
        <p:cNvGrpSpPr/>
        <p:nvPr/>
      </p:nvGrpSpPr>
      <p:grpSpPr>
        <a:xfrm>
          <a:off x="0" y="0"/>
          <a:ext cx="0" cy="0"/>
          <a:chOff x="0" y="0"/>
          <a:chExt cx="0" cy="0"/>
        </a:xfrm>
      </p:grpSpPr>
      <p:pic>
        <p:nvPicPr>
          <p:cNvPr id="132" name="Picture 131">
            <a:extLst>
              <a:ext uri="{FF2B5EF4-FFF2-40B4-BE49-F238E27FC236}">
                <a16:creationId xmlns:a16="http://schemas.microsoft.com/office/drawing/2014/main" id="{26AA7C31-76FD-4B44-A1FF-D13D2515AE5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123845" y="1578901"/>
            <a:ext cx="7020154" cy="3564599"/>
          </a:xfrm>
          <a:prstGeom prst="rect">
            <a:avLst/>
          </a:prstGeom>
        </p:spPr>
      </p:pic>
      <p:pic>
        <p:nvPicPr>
          <p:cNvPr id="134" name="Picture 133">
            <a:extLst>
              <a:ext uri="{FF2B5EF4-FFF2-40B4-BE49-F238E27FC236}">
                <a16:creationId xmlns:a16="http://schemas.microsoft.com/office/drawing/2014/main" id="{F5CE85F9-F4EE-4E5D-8235-528527A401D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p:nvSpPr>
          <p:cNvPr id="136" name="Rectangle 135">
            <a:extLst>
              <a:ext uri="{FF2B5EF4-FFF2-40B4-BE49-F238E27FC236}">
                <a16:creationId xmlns:a16="http://schemas.microsoft.com/office/drawing/2014/main" id="{17338BB4-74FF-4836-86B7-F1B0C2B62D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8" name="Rectangle 137">
            <a:extLst>
              <a:ext uri="{FF2B5EF4-FFF2-40B4-BE49-F238E27FC236}">
                <a16:creationId xmlns:a16="http://schemas.microsoft.com/office/drawing/2014/main" id="{1ABFA8A3-A231-4BC1-B8A5-C5BE7315CD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0" name="Rectangle 139">
            <a:extLst>
              <a:ext uri="{FF2B5EF4-FFF2-40B4-BE49-F238E27FC236}">
                <a16:creationId xmlns:a16="http://schemas.microsoft.com/office/drawing/2014/main" id="{FE35963E-79B2-4A8E-8F24-A94E8DDDD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649" y="0"/>
            <a:ext cx="5950761"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2" name="Rectangle 141">
            <a:extLst>
              <a:ext uri="{FF2B5EF4-FFF2-40B4-BE49-F238E27FC236}">
                <a16:creationId xmlns:a16="http://schemas.microsoft.com/office/drawing/2014/main" id="{308E4331-210E-4E5F-9501-4C830E3400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6410" y="0"/>
            <a:ext cx="20574"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4" name="TextBox 143">
            <a:extLst>
              <a:ext uri="{FF2B5EF4-FFF2-40B4-BE49-F238E27FC236}">
                <a16:creationId xmlns:a16="http://schemas.microsoft.com/office/drawing/2014/main" id="{1A54F778-4E1C-4F6F-9318-9795AA35C246}"/>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3461" y="2447139"/>
            <a:ext cx="311727" cy="346248"/>
          </a:xfrm>
          <a:prstGeom prst="rect">
            <a:avLst/>
          </a:prstGeom>
          <a:noFill/>
        </p:spPr>
        <p:txBody>
          <a:bodyPr wrap="square" rtlCol="0">
            <a:spAutoFit/>
          </a:bodyPr>
          <a:lstStyle/>
          <a:p>
            <a:pPr algn="r">
              <a:spcAft>
                <a:spcPts val="600"/>
              </a:spcAft>
            </a:pP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 useBgFill="1">
        <p:nvSpPr>
          <p:cNvPr id="146" name="Rectangle 145">
            <a:extLst>
              <a:ext uri="{FF2B5EF4-FFF2-40B4-BE49-F238E27FC236}">
                <a16:creationId xmlns:a16="http://schemas.microsoft.com/office/drawing/2014/main" id="{369509DD-2C4B-40B0-93E8-528BC669D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2400" cy="514146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8" name="Picture 147">
            <a:extLst>
              <a:ext uri="{FF2B5EF4-FFF2-40B4-BE49-F238E27FC236}">
                <a16:creationId xmlns:a16="http://schemas.microsoft.com/office/drawing/2014/main" id="{1C3899A3-DE34-4F0E-83CB-9868850C6C5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123845" y="1578901"/>
            <a:ext cx="7020154" cy="3564599"/>
          </a:xfrm>
          <a:prstGeom prst="rect">
            <a:avLst/>
          </a:prstGeom>
        </p:spPr>
      </p:pic>
      <p:pic>
        <p:nvPicPr>
          <p:cNvPr id="150" name="Picture 149">
            <a:extLst>
              <a:ext uri="{FF2B5EF4-FFF2-40B4-BE49-F238E27FC236}">
                <a16:creationId xmlns:a16="http://schemas.microsoft.com/office/drawing/2014/main" id="{1E5DD7BF-E6F5-4226-B70E-FC6946E4D5A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p:nvSpPr>
          <p:cNvPr id="152" name="Rectangle 151">
            <a:extLst>
              <a:ext uri="{FF2B5EF4-FFF2-40B4-BE49-F238E27FC236}">
                <a16:creationId xmlns:a16="http://schemas.microsoft.com/office/drawing/2014/main" id="{4B08778D-2BE1-4F12-B224-CEF0DBC73F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D778B3B5-F160-47D1-88A3-8BA190A4A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CC3E6A0D-6F28-4D2B-A564-A614A95E3D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650" y="0"/>
            <a:ext cx="4304646"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Google Shape;89;p29">
            <a:extLst>
              <a:ext uri="{FF2B5EF4-FFF2-40B4-BE49-F238E27FC236}">
                <a16:creationId xmlns:a16="http://schemas.microsoft.com/office/drawing/2014/main" id="{53EBECDC-8325-4875-E024-2CD1CC739C9C}"/>
              </a:ext>
            </a:extLst>
          </p:cNvPr>
          <p:cNvSpPr txBox="1">
            <a:spLocks noGrp="1"/>
          </p:cNvSpPr>
          <p:nvPr>
            <p:ph type="ctrTitle" idx="4294967295"/>
          </p:nvPr>
        </p:nvSpPr>
        <p:spPr>
          <a:xfrm>
            <a:off x="1477351" y="354829"/>
            <a:ext cx="2979693" cy="1701419"/>
          </a:xfrm>
          <a:prstGeom prst="rect">
            <a:avLst/>
          </a:prstGeom>
        </p:spPr>
        <p:txBody>
          <a:bodyPr spcFirstLastPara="1" vert="horz" lIns="91440" tIns="45720" rIns="91440" bIns="45720" rtlCol="0" anchor="t" anchorCtr="0">
            <a:normAutofit/>
          </a:bodyPr>
          <a:lstStyle/>
          <a:p>
            <a:pPr lvl="0" algn="l" defTabSz="914400">
              <a:buClr>
                <a:schemeClr val="dk1"/>
              </a:buClr>
              <a:buSzPts val="1100"/>
            </a:pPr>
            <a:r>
              <a:rPr lang="en-US" sz="3600" b="1" dirty="0"/>
              <a:t>Data Mapping &amp; Debugging</a:t>
            </a:r>
            <a:endParaRPr lang="en-US" sz="3600" b="1" dirty="0">
              <a:sym typeface="Inter"/>
            </a:endParaRPr>
          </a:p>
        </p:txBody>
      </p:sp>
      <p:sp>
        <p:nvSpPr>
          <p:cNvPr id="90" name="Google Shape;90;p29">
            <a:extLst>
              <a:ext uri="{FF2B5EF4-FFF2-40B4-BE49-F238E27FC236}">
                <a16:creationId xmlns:a16="http://schemas.microsoft.com/office/drawing/2014/main" id="{132A5188-DF61-1C79-9849-938AFB1586A6}"/>
              </a:ext>
            </a:extLst>
          </p:cNvPr>
          <p:cNvSpPr txBox="1">
            <a:spLocks noGrp="1"/>
          </p:cNvSpPr>
          <p:nvPr>
            <p:ph type="subTitle" idx="4294967295"/>
          </p:nvPr>
        </p:nvSpPr>
        <p:spPr>
          <a:xfrm>
            <a:off x="1481219" y="1849420"/>
            <a:ext cx="3117575" cy="1701419"/>
          </a:xfrm>
          <a:prstGeom prst="rect">
            <a:avLst/>
          </a:prstGeom>
        </p:spPr>
        <p:txBody>
          <a:bodyPr spcFirstLastPara="1" vert="horz" lIns="91440" tIns="0" rIns="91440" bIns="45720" rtlCol="0" anchor="b" anchorCtr="0">
            <a:normAutofit/>
          </a:bodyPr>
          <a:lstStyle/>
          <a:p>
            <a:pPr marL="0" indent="0" defTabSz="914400">
              <a:lnSpc>
                <a:spcPct val="110000"/>
              </a:lnSpc>
              <a:spcBef>
                <a:spcPts val="1000"/>
              </a:spcBef>
              <a:spcAft>
                <a:spcPts val="600"/>
              </a:spcAft>
              <a:buNone/>
            </a:pPr>
            <a:r>
              <a:rPr lang="en-US" sz="1200" dirty="0"/>
              <a:t>Data is mapped into a structured output format, with logging implemented to validate extracted values and ensure easier debugging.</a:t>
            </a:r>
          </a:p>
        </p:txBody>
      </p:sp>
      <p:sp>
        <p:nvSpPr>
          <p:cNvPr id="158" name="Rectangle 157">
            <a:extLst>
              <a:ext uri="{FF2B5EF4-FFF2-40B4-BE49-F238E27FC236}">
                <a16:creationId xmlns:a16="http://schemas.microsoft.com/office/drawing/2014/main" id="{63D6BF39-D420-4578-B10E-1EC1DFEDB1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0294" y="0"/>
            <a:ext cx="3478183"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9DC6EC1-5C5A-EF5B-78F3-9D749F3B7BCC}"/>
              </a:ext>
            </a:extLst>
          </p:cNvPr>
          <p:cNvPicPr>
            <a:picLocks noChangeAspect="1"/>
          </p:cNvPicPr>
          <p:nvPr/>
        </p:nvPicPr>
        <p:blipFill>
          <a:blip r:embed="rId6"/>
          <a:stretch>
            <a:fillRect/>
          </a:stretch>
        </p:blipFill>
        <p:spPr>
          <a:xfrm>
            <a:off x="5301333" y="758262"/>
            <a:ext cx="3000179" cy="1170069"/>
          </a:xfrm>
          <a:prstGeom prst="rect">
            <a:avLst/>
          </a:prstGeom>
          <a:ln w="12700">
            <a:noFill/>
          </a:ln>
        </p:spPr>
      </p:pic>
      <p:sp>
        <p:nvSpPr>
          <p:cNvPr id="160" name="Rectangle 159">
            <a:extLst>
              <a:ext uri="{FF2B5EF4-FFF2-40B4-BE49-F238E27FC236}">
                <a16:creationId xmlns:a16="http://schemas.microsoft.com/office/drawing/2014/main" id="{E33D5E90-56E3-4018-A258-E6DE88065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40190" y="173144"/>
            <a:ext cx="3118824" cy="2331401"/>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34ACCC7C-5996-3197-A468-27AD995769BD}"/>
              </a:ext>
            </a:extLst>
          </p:cNvPr>
          <p:cNvPicPr>
            <a:picLocks noChangeAspect="1"/>
          </p:cNvPicPr>
          <p:nvPr/>
        </p:nvPicPr>
        <p:blipFill>
          <a:blip r:embed="rId7"/>
          <a:stretch/>
        </p:blipFill>
        <p:spPr>
          <a:xfrm>
            <a:off x="5767201" y="2686593"/>
            <a:ext cx="2062308" cy="2212812"/>
          </a:xfrm>
          <a:prstGeom prst="rect">
            <a:avLst/>
          </a:prstGeom>
          <a:ln w="12700">
            <a:noFill/>
          </a:ln>
        </p:spPr>
      </p:pic>
      <p:sp>
        <p:nvSpPr>
          <p:cNvPr id="162" name="Rectangle 161">
            <a:extLst>
              <a:ext uri="{FF2B5EF4-FFF2-40B4-BE49-F238E27FC236}">
                <a16:creationId xmlns:a16="http://schemas.microsoft.com/office/drawing/2014/main" id="{E0FE89D1-82AA-4F2D-9B8F-A12BBCFDB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40190" y="2632224"/>
            <a:ext cx="3118824" cy="2331402"/>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DC30B14F-3796-4168-80E0-3F11C3571E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40749" y="-2038"/>
            <a:ext cx="20574" cy="51434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61395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Shape 88">
          <a:extLst>
            <a:ext uri="{FF2B5EF4-FFF2-40B4-BE49-F238E27FC236}">
              <a16:creationId xmlns:a16="http://schemas.microsoft.com/office/drawing/2014/main" id="{A3EC93DC-F1B8-CF94-8BA1-0D820EC1E52F}"/>
            </a:ext>
          </a:extLst>
        </p:cNvPr>
        <p:cNvGrpSpPr/>
        <p:nvPr/>
      </p:nvGrpSpPr>
      <p:grpSpPr>
        <a:xfrm>
          <a:off x="0" y="0"/>
          <a:ext cx="0" cy="0"/>
          <a:chOff x="0" y="0"/>
          <a:chExt cx="0" cy="0"/>
        </a:xfrm>
      </p:grpSpPr>
      <p:pic>
        <p:nvPicPr>
          <p:cNvPr id="124" name="Picture 123">
            <a:extLst>
              <a:ext uri="{FF2B5EF4-FFF2-40B4-BE49-F238E27FC236}">
                <a16:creationId xmlns:a16="http://schemas.microsoft.com/office/drawing/2014/main" id="{26AA7C31-76FD-4B44-A1FF-D13D2515AE5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123845" y="1578901"/>
            <a:ext cx="7020154" cy="3564599"/>
          </a:xfrm>
          <a:prstGeom prst="rect">
            <a:avLst/>
          </a:prstGeom>
        </p:spPr>
      </p:pic>
      <p:pic>
        <p:nvPicPr>
          <p:cNvPr id="126" name="Picture 125">
            <a:extLst>
              <a:ext uri="{FF2B5EF4-FFF2-40B4-BE49-F238E27FC236}">
                <a16:creationId xmlns:a16="http://schemas.microsoft.com/office/drawing/2014/main" id="{F5CE85F9-F4EE-4E5D-8235-528527A401D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p:nvSpPr>
          <p:cNvPr id="128" name="Rectangle 127">
            <a:extLst>
              <a:ext uri="{FF2B5EF4-FFF2-40B4-BE49-F238E27FC236}">
                <a16:creationId xmlns:a16="http://schemas.microsoft.com/office/drawing/2014/main" id="{17338BB4-74FF-4836-86B7-F1B0C2B62D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9" name="Rectangle 128">
            <a:extLst>
              <a:ext uri="{FF2B5EF4-FFF2-40B4-BE49-F238E27FC236}">
                <a16:creationId xmlns:a16="http://schemas.microsoft.com/office/drawing/2014/main" id="{1ABFA8A3-A231-4BC1-B8A5-C5BE7315CD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0" name="Rectangle 129">
            <a:extLst>
              <a:ext uri="{FF2B5EF4-FFF2-40B4-BE49-F238E27FC236}">
                <a16:creationId xmlns:a16="http://schemas.microsoft.com/office/drawing/2014/main" id="{4D747E59-EDB0-47FA-899B-0621ED112E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1" name="Rectangle 130">
            <a:extLst>
              <a:ext uri="{FF2B5EF4-FFF2-40B4-BE49-F238E27FC236}">
                <a16:creationId xmlns:a16="http://schemas.microsoft.com/office/drawing/2014/main" id="{C2629343-044F-4737-89E9-3E17903419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2" name="TextBox 131">
            <a:extLst>
              <a:ext uri="{FF2B5EF4-FFF2-40B4-BE49-F238E27FC236}">
                <a16:creationId xmlns:a16="http://schemas.microsoft.com/office/drawing/2014/main" id="{C9B9C8E0-18D9-430D-B171-939E0EEEBAB2}"/>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480918"/>
            <a:ext cx="311727" cy="276999"/>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133" name="Rectangle 132">
            <a:extLst>
              <a:ext uri="{FF2B5EF4-FFF2-40B4-BE49-F238E27FC236}">
                <a16:creationId xmlns:a16="http://schemas.microsoft.com/office/drawing/2014/main" id="{796AFA90-1DF2-427D-B002-A09D93A15D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2400" cy="514146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4" name="Picture 133">
            <a:extLst>
              <a:ext uri="{FF2B5EF4-FFF2-40B4-BE49-F238E27FC236}">
                <a16:creationId xmlns:a16="http://schemas.microsoft.com/office/drawing/2014/main" id="{805602A8-6E8C-46E5-8FDD-2BC227550EB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123845" y="1578901"/>
            <a:ext cx="7020154" cy="3564599"/>
          </a:xfrm>
          <a:prstGeom prst="rect">
            <a:avLst/>
          </a:prstGeom>
        </p:spPr>
      </p:pic>
      <p:pic>
        <p:nvPicPr>
          <p:cNvPr id="135" name="Picture 134">
            <a:extLst>
              <a:ext uri="{FF2B5EF4-FFF2-40B4-BE49-F238E27FC236}">
                <a16:creationId xmlns:a16="http://schemas.microsoft.com/office/drawing/2014/main" id="{BB2E129B-3512-41A6-94F1-4B4FEA8178C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p:nvSpPr>
          <p:cNvPr id="136" name="Rectangle 135">
            <a:extLst>
              <a:ext uri="{FF2B5EF4-FFF2-40B4-BE49-F238E27FC236}">
                <a16:creationId xmlns:a16="http://schemas.microsoft.com/office/drawing/2014/main" id="{891C00A1-D917-4D03-B713-9881557CEF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1BA3F0C2-72FC-4945-8B22-3BE47B3972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3410D66C-3847-4B32-B505-01B23358B6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649" y="0"/>
            <a:ext cx="7783501"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Google Shape;89;p29">
            <a:extLst>
              <a:ext uri="{FF2B5EF4-FFF2-40B4-BE49-F238E27FC236}">
                <a16:creationId xmlns:a16="http://schemas.microsoft.com/office/drawing/2014/main" id="{9F8E5502-1D42-7D7D-4F84-BC069D3F0D6F}"/>
              </a:ext>
            </a:extLst>
          </p:cNvPr>
          <p:cNvSpPr txBox="1">
            <a:spLocks noGrp="1"/>
          </p:cNvSpPr>
          <p:nvPr>
            <p:ph type="ctrTitle" idx="4294967295"/>
          </p:nvPr>
        </p:nvSpPr>
        <p:spPr>
          <a:xfrm>
            <a:off x="1114322" y="68701"/>
            <a:ext cx="2339910" cy="807921"/>
          </a:xfrm>
          <a:prstGeom prst="rect">
            <a:avLst/>
          </a:prstGeom>
        </p:spPr>
        <p:txBody>
          <a:bodyPr spcFirstLastPara="1" vert="horz" lIns="91440" tIns="45720" rIns="91440" bIns="45720" rtlCol="0" anchor="t" anchorCtr="0">
            <a:noAutofit/>
          </a:bodyPr>
          <a:lstStyle/>
          <a:p>
            <a:pPr lvl="0" algn="l" defTabSz="914400">
              <a:buClr>
                <a:schemeClr val="dk1"/>
              </a:buClr>
              <a:buSzPts val="1100"/>
            </a:pPr>
            <a:r>
              <a:rPr lang="en-US" sz="3300" b="1" dirty="0"/>
              <a:t>Validation Logic</a:t>
            </a:r>
            <a:endParaRPr lang="en-US" sz="3300" b="1" dirty="0">
              <a:sym typeface="Inter"/>
            </a:endParaRPr>
          </a:p>
        </p:txBody>
      </p:sp>
      <p:sp>
        <p:nvSpPr>
          <p:cNvPr id="90" name="Google Shape;90;p29">
            <a:extLst>
              <a:ext uri="{FF2B5EF4-FFF2-40B4-BE49-F238E27FC236}">
                <a16:creationId xmlns:a16="http://schemas.microsoft.com/office/drawing/2014/main" id="{2484098D-00B3-8853-DD59-DACD7FE7B343}"/>
              </a:ext>
            </a:extLst>
          </p:cNvPr>
          <p:cNvSpPr txBox="1">
            <a:spLocks noGrp="1"/>
          </p:cNvSpPr>
          <p:nvPr>
            <p:ph type="subTitle" idx="4294967295"/>
          </p:nvPr>
        </p:nvSpPr>
        <p:spPr>
          <a:xfrm>
            <a:off x="719539" y="1064491"/>
            <a:ext cx="3331255" cy="4076970"/>
          </a:xfrm>
          <a:prstGeom prst="rect">
            <a:avLst/>
          </a:prstGeom>
        </p:spPr>
        <p:txBody>
          <a:bodyPr spcFirstLastPara="1" vert="horz" lIns="91440" tIns="45720" rIns="91440" bIns="45720" rtlCol="0" anchor="ctr" anchorCtr="0">
            <a:noAutofit/>
          </a:bodyPr>
          <a:lstStyle/>
          <a:p>
            <a:pPr marL="0" indent="0" defTabSz="914400">
              <a:lnSpc>
                <a:spcPct val="110000"/>
              </a:lnSpc>
              <a:spcBef>
                <a:spcPts val="50"/>
              </a:spcBef>
              <a:spcAft>
                <a:spcPts val="600"/>
              </a:spcAft>
              <a:buNone/>
            </a:pPr>
            <a:r>
              <a:rPr lang="en-US" sz="1000" dirty="0"/>
              <a:t>Validation logic ensures that only reliable and complete data is processed, while identifying and flagging potential issues.</a:t>
            </a:r>
          </a:p>
          <a:p>
            <a:pPr marL="0" indent="0" defTabSz="914400">
              <a:lnSpc>
                <a:spcPct val="110000"/>
              </a:lnSpc>
              <a:spcBef>
                <a:spcPts val="50"/>
              </a:spcBef>
              <a:spcAft>
                <a:spcPts val="600"/>
              </a:spcAft>
              <a:buNone/>
            </a:pPr>
            <a:r>
              <a:rPr lang="en-US" sz="1000" b="1" dirty="0"/>
              <a:t>Key Points:</a:t>
            </a:r>
            <a:endParaRPr lang="en-US" sz="1000" dirty="0"/>
          </a:p>
          <a:p>
            <a:pPr marL="285750" indent="-285750" defTabSz="914400">
              <a:lnSpc>
                <a:spcPct val="110000"/>
              </a:lnSpc>
              <a:spcBef>
                <a:spcPts val="50"/>
              </a:spcBef>
              <a:spcAft>
                <a:spcPts val="600"/>
              </a:spcAft>
            </a:pPr>
            <a:r>
              <a:rPr lang="en-US" sz="1000" dirty="0"/>
              <a:t>Identifies missing or not extracted fields (confidence = -1) </a:t>
            </a:r>
          </a:p>
          <a:p>
            <a:pPr marL="285750" indent="-285750" defTabSz="914400">
              <a:lnSpc>
                <a:spcPct val="110000"/>
              </a:lnSpc>
              <a:spcBef>
                <a:spcPts val="50"/>
              </a:spcBef>
              <a:spcAft>
                <a:spcPts val="600"/>
              </a:spcAft>
            </a:pPr>
            <a:r>
              <a:rPr lang="en-US" sz="1000" dirty="0"/>
              <a:t>Recognizes that custom extractor fields return confidence = 0 by default </a:t>
            </a:r>
          </a:p>
          <a:p>
            <a:pPr marL="285750" indent="-285750" defTabSz="914400">
              <a:lnSpc>
                <a:spcPct val="110000"/>
              </a:lnSpc>
              <a:spcBef>
                <a:spcPts val="50"/>
              </a:spcBef>
              <a:spcAft>
                <a:spcPts val="600"/>
              </a:spcAft>
            </a:pPr>
            <a:r>
              <a:rPr lang="en-US" sz="1000" dirty="0"/>
              <a:t>Flags incomplete or suspicious data based on validation rules </a:t>
            </a:r>
          </a:p>
          <a:p>
            <a:pPr marL="285750" indent="-285750" defTabSz="914400">
              <a:lnSpc>
                <a:spcPct val="110000"/>
              </a:lnSpc>
              <a:spcBef>
                <a:spcPts val="50"/>
              </a:spcBef>
              <a:spcAft>
                <a:spcPts val="600"/>
              </a:spcAft>
            </a:pPr>
            <a:r>
              <a:rPr lang="en-US" sz="1000" dirty="0"/>
              <a:t>Sends email notifications for manual review </a:t>
            </a:r>
          </a:p>
          <a:p>
            <a:pPr marL="285750" indent="-285750" defTabSz="914400">
              <a:lnSpc>
                <a:spcPct val="110000"/>
              </a:lnSpc>
              <a:spcBef>
                <a:spcPts val="50"/>
              </a:spcBef>
              <a:spcAft>
                <a:spcPts val="600"/>
              </a:spcAft>
            </a:pPr>
            <a:r>
              <a:rPr lang="en-US" sz="1000" dirty="0"/>
              <a:t>Prevents incorrect or incomplete data from entering the system </a:t>
            </a:r>
          </a:p>
          <a:p>
            <a:pPr marL="0" indent="0" defTabSz="914400">
              <a:lnSpc>
                <a:spcPct val="110000"/>
              </a:lnSpc>
              <a:spcBef>
                <a:spcPts val="50"/>
              </a:spcBef>
              <a:spcAft>
                <a:spcPts val="600"/>
              </a:spcAft>
              <a:buNone/>
            </a:pPr>
            <a:r>
              <a:rPr lang="en-US" sz="1000" dirty="0"/>
              <a:t>Built-in validation ensures data accuracy and reliability before final output.</a:t>
            </a:r>
          </a:p>
          <a:p>
            <a:pPr marL="0" indent="0" defTabSz="914400">
              <a:lnSpc>
                <a:spcPct val="110000"/>
              </a:lnSpc>
              <a:spcBef>
                <a:spcPts val="50"/>
              </a:spcBef>
              <a:spcAft>
                <a:spcPts val="600"/>
              </a:spcAft>
              <a:buNone/>
            </a:pPr>
            <a:r>
              <a:rPr lang="en-US" sz="1000" dirty="0"/>
              <a:t>In this solution, confidence scores are interpreted differently due to the use of a custom extractor. A value of -1 indicates missing data, while 0 represents extracted data without a confidence model.</a:t>
            </a:r>
          </a:p>
        </p:txBody>
      </p:sp>
      <p:sp>
        <p:nvSpPr>
          <p:cNvPr id="139" name="Rectangle 138">
            <a:extLst>
              <a:ext uri="{FF2B5EF4-FFF2-40B4-BE49-F238E27FC236}">
                <a16:creationId xmlns:a16="http://schemas.microsoft.com/office/drawing/2014/main" id="{C43DB4DB-4F6A-4E8D-B9A3-74E5A84537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83485" y="0"/>
            <a:ext cx="4457657"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100774C4-6D7B-01F7-F987-7D42728F8885}"/>
              </a:ext>
            </a:extLst>
          </p:cNvPr>
          <p:cNvPicPr>
            <a:picLocks noChangeAspect="1"/>
          </p:cNvPicPr>
          <p:nvPr/>
        </p:nvPicPr>
        <p:blipFill>
          <a:blip r:embed="rId6"/>
          <a:stretch/>
        </p:blipFill>
        <p:spPr>
          <a:xfrm>
            <a:off x="5072222" y="237364"/>
            <a:ext cx="2471419" cy="2213736"/>
          </a:xfrm>
          <a:prstGeom prst="rect">
            <a:avLst/>
          </a:prstGeom>
          <a:ln w="12700">
            <a:noFill/>
          </a:ln>
        </p:spPr>
      </p:pic>
      <p:sp>
        <p:nvSpPr>
          <p:cNvPr id="123" name="Rectangle 122">
            <a:extLst>
              <a:ext uri="{FF2B5EF4-FFF2-40B4-BE49-F238E27FC236}">
                <a16:creationId xmlns:a16="http://schemas.microsoft.com/office/drawing/2014/main" id="{431FCBDC-FCD6-46FA-989A-9B74968965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61867" y="174344"/>
            <a:ext cx="4084835" cy="2335755"/>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D2F9403-C487-D07A-CE75-905A6BDDBFD2}"/>
              </a:ext>
            </a:extLst>
          </p:cNvPr>
          <p:cNvPicPr>
            <a:picLocks noChangeAspect="1"/>
          </p:cNvPicPr>
          <p:nvPr/>
        </p:nvPicPr>
        <p:blipFill>
          <a:blip r:embed="rId7"/>
          <a:srcRect b="10204"/>
          <a:stretch>
            <a:fillRect/>
          </a:stretch>
        </p:blipFill>
        <p:spPr>
          <a:xfrm>
            <a:off x="4765646" y="2688435"/>
            <a:ext cx="3084572" cy="2208933"/>
          </a:xfrm>
          <a:prstGeom prst="rect">
            <a:avLst/>
          </a:prstGeom>
          <a:ln w="12700">
            <a:noFill/>
          </a:ln>
        </p:spPr>
      </p:pic>
      <p:sp>
        <p:nvSpPr>
          <p:cNvPr id="125" name="Rectangle 124">
            <a:extLst>
              <a:ext uri="{FF2B5EF4-FFF2-40B4-BE49-F238E27FC236}">
                <a16:creationId xmlns:a16="http://schemas.microsoft.com/office/drawing/2014/main" id="{C66EB2AB-6794-4C3C-A92D-4876AB0BEF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61867" y="2625626"/>
            <a:ext cx="4084835" cy="2335755"/>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a:extLst>
              <a:ext uri="{FF2B5EF4-FFF2-40B4-BE49-F238E27FC236}">
                <a16:creationId xmlns:a16="http://schemas.microsoft.com/office/drawing/2014/main" id="{A34BD4E6-C736-4064-AF1F-3C5B402E1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40749" y="-2038"/>
            <a:ext cx="20574" cy="51434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E1B78FE7-448C-0BF4-B2D3-6108B25715B0}"/>
              </a:ext>
            </a:extLst>
          </p:cNvPr>
          <p:cNvPicPr>
            <a:picLocks noChangeAspect="1"/>
          </p:cNvPicPr>
          <p:nvPr/>
        </p:nvPicPr>
        <p:blipFill>
          <a:blip r:embed="rId7"/>
          <a:srcRect b="10204"/>
          <a:stretch>
            <a:fillRect/>
          </a:stretch>
        </p:blipFill>
        <p:spPr>
          <a:xfrm>
            <a:off x="4765646" y="2752448"/>
            <a:ext cx="3084572" cy="2208933"/>
          </a:xfrm>
          <a:prstGeom prst="rect">
            <a:avLst/>
          </a:prstGeom>
          <a:ln w="12700">
            <a:noFill/>
          </a:ln>
        </p:spPr>
      </p:pic>
    </p:spTree>
    <p:extLst>
      <p:ext uri="{BB962C8B-B14F-4D97-AF65-F5344CB8AC3E}">
        <p14:creationId xmlns:p14="http://schemas.microsoft.com/office/powerpoint/2010/main" val="64274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8">
          <a:extLst>
            <a:ext uri="{FF2B5EF4-FFF2-40B4-BE49-F238E27FC236}">
              <a16:creationId xmlns:a16="http://schemas.microsoft.com/office/drawing/2014/main" id="{D62E06AF-D411-B5EF-4F08-E4405DA0AB2E}"/>
            </a:ext>
          </a:extLst>
        </p:cNvPr>
        <p:cNvGrpSpPr/>
        <p:nvPr/>
      </p:nvGrpSpPr>
      <p:grpSpPr>
        <a:xfrm>
          <a:off x="0" y="0"/>
          <a:ext cx="0" cy="0"/>
          <a:chOff x="0" y="0"/>
          <a:chExt cx="0" cy="0"/>
        </a:xfrm>
      </p:grpSpPr>
      <p:pic>
        <p:nvPicPr>
          <p:cNvPr id="95" name="Picture 94">
            <a:extLst>
              <a:ext uri="{FF2B5EF4-FFF2-40B4-BE49-F238E27FC236}">
                <a16:creationId xmlns:a16="http://schemas.microsoft.com/office/drawing/2014/main" id="{3DBBA26C-89C3-411F-9753-606A413F89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1578901"/>
            <a:ext cx="7020154" cy="3564599"/>
          </a:xfrm>
          <a:prstGeom prst="rect">
            <a:avLst/>
          </a:prstGeom>
        </p:spPr>
      </p:pic>
      <p:pic>
        <p:nvPicPr>
          <p:cNvPr id="97" name="Picture 96">
            <a:extLst>
              <a:ext uri="{FF2B5EF4-FFF2-40B4-BE49-F238E27FC236}">
                <a16:creationId xmlns:a16="http://schemas.microsoft.com/office/drawing/2014/main" id="{EEAD2215-6311-4D1C-B6B5-F57CB6BFCBC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p:nvSpPr>
          <p:cNvPr id="99" name="Rectangle 98">
            <a:extLst>
              <a:ext uri="{FF2B5EF4-FFF2-40B4-BE49-F238E27FC236}">
                <a16:creationId xmlns:a16="http://schemas.microsoft.com/office/drawing/2014/main" id="{7BA5DE79-30D1-4A10-8DB9-0A6E523A97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1" name="Rectangle 100">
            <a:extLst>
              <a:ext uri="{FF2B5EF4-FFF2-40B4-BE49-F238E27FC236}">
                <a16:creationId xmlns:a16="http://schemas.microsoft.com/office/drawing/2014/main" id="{9ABD0D63-D23F-4AE7-8270-4185EF9C1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 name="Rectangle 102">
            <a:extLst>
              <a:ext uri="{FF2B5EF4-FFF2-40B4-BE49-F238E27FC236}">
                <a16:creationId xmlns:a16="http://schemas.microsoft.com/office/drawing/2014/main" id="{D5B0B43F-2CE7-4C6C-BABC-EE342B3282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5" name="Rectangle 104">
            <a:extLst>
              <a:ext uri="{FF2B5EF4-FFF2-40B4-BE49-F238E27FC236}">
                <a16:creationId xmlns:a16="http://schemas.microsoft.com/office/drawing/2014/main" id="{85459F07-63F9-48CF-B725-A873C4BC3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7" name="TextBox 106">
            <a:extLst>
              <a:ext uri="{FF2B5EF4-FFF2-40B4-BE49-F238E27FC236}">
                <a16:creationId xmlns:a16="http://schemas.microsoft.com/office/drawing/2014/main" id="{14B83E1E-DAC1-4851-84FF-D6FE1649DE0B}"/>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480918"/>
            <a:ext cx="311727" cy="276999"/>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pic>
        <p:nvPicPr>
          <p:cNvPr id="109" name="Picture 108">
            <a:extLst>
              <a:ext uri="{FF2B5EF4-FFF2-40B4-BE49-F238E27FC236}">
                <a16:creationId xmlns:a16="http://schemas.microsoft.com/office/drawing/2014/main" id="{0214283E-D7B4-49E9-932E-D7F2A2847F1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useBgFill="1">
        <p:nvSpPr>
          <p:cNvPr id="111" name="Rectangle 110">
            <a:extLst>
              <a:ext uri="{FF2B5EF4-FFF2-40B4-BE49-F238E27FC236}">
                <a16:creationId xmlns:a16="http://schemas.microsoft.com/office/drawing/2014/main" id="{92806DFD-E192-42CC-B190-3C4C95B8FF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99" y="0"/>
            <a:ext cx="914240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3" name="Picture 112">
            <a:extLst>
              <a:ext uri="{FF2B5EF4-FFF2-40B4-BE49-F238E27FC236}">
                <a16:creationId xmlns:a16="http://schemas.microsoft.com/office/drawing/2014/main" id="{9FCFF961-4E84-4FD1-859C-B7F410031CB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6344" y="0"/>
            <a:ext cx="3474378" cy="5143500"/>
          </a:xfrm>
          <a:prstGeom prst="rect">
            <a:avLst/>
          </a:prstGeom>
        </p:spPr>
      </p:pic>
      <p:sp>
        <p:nvSpPr>
          <p:cNvPr id="89" name="Google Shape;89;p29">
            <a:extLst>
              <a:ext uri="{FF2B5EF4-FFF2-40B4-BE49-F238E27FC236}">
                <a16:creationId xmlns:a16="http://schemas.microsoft.com/office/drawing/2014/main" id="{F52F3E94-5343-E58A-C30E-20CBE5D82D76}"/>
              </a:ext>
            </a:extLst>
          </p:cNvPr>
          <p:cNvSpPr txBox="1">
            <a:spLocks noGrp="1"/>
          </p:cNvSpPr>
          <p:nvPr>
            <p:ph type="ctrTitle" idx="4294967295"/>
          </p:nvPr>
        </p:nvSpPr>
        <p:spPr>
          <a:xfrm>
            <a:off x="909778" y="901292"/>
            <a:ext cx="2298287" cy="3340915"/>
          </a:xfrm>
          <a:prstGeom prst="rect">
            <a:avLst/>
          </a:prstGeom>
        </p:spPr>
        <p:txBody>
          <a:bodyPr spcFirstLastPara="1" vert="horz" lIns="91440" tIns="45720" rIns="91440" bIns="45720" rtlCol="0" anchor="ctr" anchorCtr="0">
            <a:normAutofit/>
          </a:bodyPr>
          <a:lstStyle/>
          <a:p>
            <a:pPr lvl="0" defTabSz="914400">
              <a:buClr>
                <a:schemeClr val="dk1"/>
              </a:buClr>
              <a:buSzPts val="1100"/>
            </a:pPr>
            <a:r>
              <a:rPr lang="en-US" sz="3300" b="1" dirty="0"/>
              <a:t>Key Outcomes</a:t>
            </a:r>
            <a:endParaRPr lang="en-US" sz="3300" b="1" dirty="0">
              <a:sym typeface="Inter"/>
            </a:endParaRPr>
          </a:p>
        </p:txBody>
      </p:sp>
      <p:sp>
        <p:nvSpPr>
          <p:cNvPr id="115" name="Rectangle 114">
            <a:extLst>
              <a:ext uri="{FF2B5EF4-FFF2-40B4-BE49-F238E27FC236}">
                <a16:creationId xmlns:a16="http://schemas.microsoft.com/office/drawing/2014/main" id="{BB17FFD2-DBC7-4ABB-B2A0-7E18EC1B8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7" name="Rectangle 116">
            <a:extLst>
              <a:ext uri="{FF2B5EF4-FFF2-40B4-BE49-F238E27FC236}">
                <a16:creationId xmlns:a16="http://schemas.microsoft.com/office/drawing/2014/main" id="{DF737BB4-6553-47A8-893F-178A10C6B6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0" name="Google Shape;90;p29">
            <a:extLst>
              <a:ext uri="{FF2B5EF4-FFF2-40B4-BE49-F238E27FC236}">
                <a16:creationId xmlns:a16="http://schemas.microsoft.com/office/drawing/2014/main" id="{C70325F1-F9FD-315B-8792-9AF300E2613E}"/>
              </a:ext>
            </a:extLst>
          </p:cNvPr>
          <p:cNvSpPr txBox="1">
            <a:spLocks noGrp="1"/>
          </p:cNvSpPr>
          <p:nvPr>
            <p:ph type="subTitle" idx="4294967295"/>
          </p:nvPr>
        </p:nvSpPr>
        <p:spPr>
          <a:xfrm>
            <a:off x="3520951" y="-1"/>
            <a:ext cx="5136666" cy="5068112"/>
          </a:xfrm>
          <a:prstGeom prst="rect">
            <a:avLst/>
          </a:prstGeom>
        </p:spPr>
        <p:txBody>
          <a:bodyPr spcFirstLastPara="1" vert="horz" lIns="91440" tIns="45720" rIns="91440" bIns="45720" rtlCol="0" anchor="ctr" anchorCtr="0">
            <a:normAutofit/>
          </a:bodyPr>
          <a:lstStyle/>
          <a:p>
            <a:pPr marL="0" indent="0" defTabSz="914400">
              <a:lnSpc>
                <a:spcPct val="110000"/>
              </a:lnSpc>
              <a:spcAft>
                <a:spcPts val="600"/>
              </a:spcAft>
              <a:buNone/>
            </a:pPr>
            <a:r>
              <a:rPr lang="en-US" sz="1200" dirty="0"/>
              <a:t>This automation successfully processes rate confirmations end-to-end, extracting, enriching, and structuring data into a usable format.</a:t>
            </a:r>
          </a:p>
          <a:p>
            <a:pPr defTabSz="914400">
              <a:lnSpc>
                <a:spcPct val="110000"/>
              </a:lnSpc>
              <a:spcAft>
                <a:spcPts val="600"/>
              </a:spcAft>
            </a:pPr>
            <a:endParaRPr lang="en-US" sz="1200" dirty="0"/>
          </a:p>
          <a:p>
            <a:pPr marL="0" indent="0" defTabSz="914400">
              <a:lnSpc>
                <a:spcPct val="110000"/>
              </a:lnSpc>
              <a:spcAft>
                <a:spcPts val="600"/>
              </a:spcAft>
              <a:buNone/>
            </a:pPr>
            <a:r>
              <a:rPr lang="en-US" sz="1200" b="1" dirty="0"/>
              <a:t>Key Outcomes:</a:t>
            </a:r>
          </a:p>
          <a:p>
            <a:pPr marL="285750" indent="-285750" defTabSz="914400">
              <a:lnSpc>
                <a:spcPct val="110000"/>
              </a:lnSpc>
              <a:spcAft>
                <a:spcPts val="600"/>
              </a:spcAft>
            </a:pPr>
            <a:r>
              <a:rPr lang="en-US" sz="1200" dirty="0"/>
              <a:t>~70–80% reduction in manual processing </a:t>
            </a:r>
          </a:p>
          <a:p>
            <a:pPr marL="285750" indent="-285750" defTabSz="914400">
              <a:lnSpc>
                <a:spcPct val="110000"/>
              </a:lnSpc>
              <a:spcAft>
                <a:spcPts val="600"/>
              </a:spcAft>
            </a:pPr>
            <a:r>
              <a:rPr lang="en-US" sz="1200" dirty="0"/>
              <a:t>Successful mileage calculation using AI </a:t>
            </a:r>
          </a:p>
          <a:p>
            <a:pPr marL="285750" indent="-285750" defTabSz="914400">
              <a:lnSpc>
                <a:spcPct val="110000"/>
              </a:lnSpc>
              <a:spcAft>
                <a:spcPts val="600"/>
              </a:spcAft>
            </a:pPr>
            <a:r>
              <a:rPr lang="en-US" sz="1200" dirty="0"/>
              <a:t>Automated dozens of confirmations</a:t>
            </a:r>
          </a:p>
          <a:p>
            <a:pPr marL="285750" indent="-285750" defTabSz="914400">
              <a:lnSpc>
                <a:spcPct val="110000"/>
              </a:lnSpc>
              <a:spcAft>
                <a:spcPts val="600"/>
              </a:spcAft>
            </a:pPr>
            <a:r>
              <a:rPr lang="en-US" sz="1200" dirty="0"/>
              <a:t>Reduced repetitive data entry</a:t>
            </a:r>
          </a:p>
          <a:p>
            <a:pPr marL="285750" indent="-285750" defTabSz="914400">
              <a:lnSpc>
                <a:spcPct val="110000"/>
              </a:lnSpc>
              <a:spcAft>
                <a:spcPts val="600"/>
              </a:spcAft>
            </a:pPr>
            <a:r>
              <a:rPr lang="en-US" sz="1200" dirty="0"/>
              <a:t>Faster RPM reporting </a:t>
            </a:r>
          </a:p>
          <a:p>
            <a:pPr marL="285750" indent="-285750" defTabSz="914400">
              <a:lnSpc>
                <a:spcPct val="110000"/>
              </a:lnSpc>
              <a:spcAft>
                <a:spcPts val="600"/>
              </a:spcAft>
            </a:pPr>
            <a:r>
              <a:rPr lang="en-US" sz="1200" dirty="0"/>
              <a:t>Flags low-confidence data for review</a:t>
            </a:r>
          </a:p>
          <a:p>
            <a:pPr marL="285750" indent="-285750" defTabSz="914400">
              <a:lnSpc>
                <a:spcPct val="110000"/>
              </a:lnSpc>
              <a:spcAft>
                <a:spcPts val="600"/>
              </a:spcAft>
            </a:pPr>
            <a:endParaRPr lang="en-US" sz="1200" dirty="0"/>
          </a:p>
          <a:p>
            <a:pPr marL="0" indent="0" defTabSz="914400">
              <a:lnSpc>
                <a:spcPct val="110000"/>
              </a:lnSpc>
              <a:spcAft>
                <a:spcPts val="600"/>
              </a:spcAft>
              <a:buNone/>
            </a:pPr>
            <a:r>
              <a:rPr lang="en-US" sz="1200" dirty="0"/>
              <a:t>The automation reliably transforms unstructured documents into structured, actionable data.</a:t>
            </a:r>
          </a:p>
        </p:txBody>
      </p:sp>
    </p:spTree>
    <p:extLst>
      <p:ext uri="{BB962C8B-B14F-4D97-AF65-F5344CB8AC3E}">
        <p14:creationId xmlns:p14="http://schemas.microsoft.com/office/powerpoint/2010/main" val="736308158"/>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Shape 88">
          <a:extLst>
            <a:ext uri="{FF2B5EF4-FFF2-40B4-BE49-F238E27FC236}">
              <a16:creationId xmlns:a16="http://schemas.microsoft.com/office/drawing/2014/main" id="{A3464FEB-8860-1AD1-110E-BEA7D7FBE1B7}"/>
            </a:ext>
          </a:extLst>
        </p:cNvPr>
        <p:cNvGrpSpPr/>
        <p:nvPr/>
      </p:nvGrpSpPr>
      <p:grpSpPr>
        <a:xfrm>
          <a:off x="0" y="0"/>
          <a:ext cx="0" cy="0"/>
          <a:chOff x="0" y="0"/>
          <a:chExt cx="0" cy="0"/>
        </a:xfrm>
      </p:grpSpPr>
      <p:pic>
        <p:nvPicPr>
          <p:cNvPr id="95" name="Picture 94">
            <a:extLst>
              <a:ext uri="{FF2B5EF4-FFF2-40B4-BE49-F238E27FC236}">
                <a16:creationId xmlns:a16="http://schemas.microsoft.com/office/drawing/2014/main" id="{01AF5FBB-9FDC-4D75-9DD6-DAF01ED197A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123845" y="1578901"/>
            <a:ext cx="7020154" cy="3564599"/>
          </a:xfrm>
          <a:prstGeom prst="rect">
            <a:avLst/>
          </a:prstGeom>
        </p:spPr>
      </p:pic>
      <p:pic>
        <p:nvPicPr>
          <p:cNvPr id="97" name="Picture 96">
            <a:extLst>
              <a:ext uri="{FF2B5EF4-FFF2-40B4-BE49-F238E27FC236}">
                <a16:creationId xmlns:a16="http://schemas.microsoft.com/office/drawing/2014/main" id="{933BBBE6-F4CF-483E-BA74-B51421B4D9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p:nvSpPr>
          <p:cNvPr id="99" name="Rectangle 98">
            <a:extLst>
              <a:ext uri="{FF2B5EF4-FFF2-40B4-BE49-F238E27FC236}">
                <a16:creationId xmlns:a16="http://schemas.microsoft.com/office/drawing/2014/main" id="{4C790028-99AE-4AE4-8269-9913E2D50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1" name="Rectangle 100">
            <a:extLst>
              <a:ext uri="{FF2B5EF4-FFF2-40B4-BE49-F238E27FC236}">
                <a16:creationId xmlns:a16="http://schemas.microsoft.com/office/drawing/2014/main" id="{06936A2A-FE08-4EE0-A409-3EF3FA244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 name="Rectangle 102">
            <a:extLst>
              <a:ext uri="{FF2B5EF4-FFF2-40B4-BE49-F238E27FC236}">
                <a16:creationId xmlns:a16="http://schemas.microsoft.com/office/drawing/2014/main" id="{BAF0407B-48CB-4C05-B0D7-7A69A0D40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649" y="0"/>
            <a:ext cx="5950761"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5" name="Rectangle 104">
            <a:extLst>
              <a:ext uri="{FF2B5EF4-FFF2-40B4-BE49-F238E27FC236}">
                <a16:creationId xmlns:a16="http://schemas.microsoft.com/office/drawing/2014/main" id="{ADC50C3D-0DA0-4914-B5B4-D1819CC69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6410" y="0"/>
            <a:ext cx="20574"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7" name="TextBox 106">
            <a:extLst>
              <a:ext uri="{FF2B5EF4-FFF2-40B4-BE49-F238E27FC236}">
                <a16:creationId xmlns:a16="http://schemas.microsoft.com/office/drawing/2014/main" id="{8CF9E583-1A92-4144-B4FA-81D98317FA04}"/>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3461" y="2447139"/>
            <a:ext cx="311727" cy="346248"/>
          </a:xfrm>
          <a:prstGeom prst="rect">
            <a:avLst/>
          </a:prstGeom>
          <a:noFill/>
        </p:spPr>
        <p:txBody>
          <a:bodyPr wrap="square" rtlCol="0">
            <a:spAutoFit/>
          </a:bodyPr>
          <a:lstStyle/>
          <a:p>
            <a:pPr algn="r">
              <a:spcAft>
                <a:spcPts val="600"/>
              </a:spcAft>
            </a:pP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 useBgFill="1">
        <p:nvSpPr>
          <p:cNvPr id="109" name="Rectangle 108">
            <a:extLst>
              <a:ext uri="{FF2B5EF4-FFF2-40B4-BE49-F238E27FC236}">
                <a16:creationId xmlns:a16="http://schemas.microsoft.com/office/drawing/2014/main" id="{55980737-1E33-40A8-819D-C20C41E4F7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2400" cy="514146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1" name="Picture 110">
            <a:extLst>
              <a:ext uri="{FF2B5EF4-FFF2-40B4-BE49-F238E27FC236}">
                <a16:creationId xmlns:a16="http://schemas.microsoft.com/office/drawing/2014/main" id="{6ABBD51A-FA48-44B8-B184-A40D7F134F1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123845" y="1578901"/>
            <a:ext cx="7020154" cy="3564599"/>
          </a:xfrm>
          <a:prstGeom prst="rect">
            <a:avLst/>
          </a:prstGeom>
        </p:spPr>
      </p:pic>
      <p:pic>
        <p:nvPicPr>
          <p:cNvPr id="113" name="Picture 112">
            <a:extLst>
              <a:ext uri="{FF2B5EF4-FFF2-40B4-BE49-F238E27FC236}">
                <a16:creationId xmlns:a16="http://schemas.microsoft.com/office/drawing/2014/main" id="{510188A9-F0D9-4FE9-85DC-2179145278C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p:nvSpPr>
          <p:cNvPr id="115" name="Rectangle 114">
            <a:extLst>
              <a:ext uri="{FF2B5EF4-FFF2-40B4-BE49-F238E27FC236}">
                <a16:creationId xmlns:a16="http://schemas.microsoft.com/office/drawing/2014/main" id="{32927575-BD84-44B6-BE49-E0C7EDD0E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73FDF09A-B960-49F4-BAEB-DA397BDCD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791BE6C0-4118-460B-90C2-160041247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649" y="0"/>
            <a:ext cx="7783501"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Google Shape;89;p29">
            <a:extLst>
              <a:ext uri="{FF2B5EF4-FFF2-40B4-BE49-F238E27FC236}">
                <a16:creationId xmlns:a16="http://schemas.microsoft.com/office/drawing/2014/main" id="{F6C77419-A7FF-D652-5C08-90B3D23E8FDB}"/>
              </a:ext>
            </a:extLst>
          </p:cNvPr>
          <p:cNvSpPr txBox="1">
            <a:spLocks noGrp="1"/>
          </p:cNvSpPr>
          <p:nvPr>
            <p:ph type="ctrTitle" idx="4294967295"/>
          </p:nvPr>
        </p:nvSpPr>
        <p:spPr>
          <a:xfrm>
            <a:off x="2388383" y="339763"/>
            <a:ext cx="5077353" cy="1701419"/>
          </a:xfrm>
          <a:prstGeom prst="rect">
            <a:avLst/>
          </a:prstGeom>
        </p:spPr>
        <p:txBody>
          <a:bodyPr spcFirstLastPara="1" vert="horz" lIns="91440" tIns="45720" rIns="91440" bIns="45720" rtlCol="0" anchor="t" anchorCtr="0">
            <a:normAutofit/>
          </a:bodyPr>
          <a:lstStyle/>
          <a:p>
            <a:pPr lvl="0" algn="l" defTabSz="914400">
              <a:buClr>
                <a:schemeClr val="dk1"/>
              </a:buClr>
              <a:buSzPts val="1100"/>
            </a:pPr>
            <a:r>
              <a:rPr lang="en-US" sz="3300" b="1" dirty="0"/>
              <a:t>Structured Data Output</a:t>
            </a:r>
            <a:endParaRPr lang="en-US" sz="3300" b="1" dirty="0">
              <a:sym typeface="Inter"/>
            </a:endParaRPr>
          </a:p>
        </p:txBody>
      </p:sp>
      <p:sp>
        <p:nvSpPr>
          <p:cNvPr id="90" name="Google Shape;90;p29">
            <a:extLst>
              <a:ext uri="{FF2B5EF4-FFF2-40B4-BE49-F238E27FC236}">
                <a16:creationId xmlns:a16="http://schemas.microsoft.com/office/drawing/2014/main" id="{0939352D-31CC-4837-37A1-D2069AF08A8A}"/>
              </a:ext>
            </a:extLst>
          </p:cNvPr>
          <p:cNvSpPr txBox="1">
            <a:spLocks noGrp="1"/>
          </p:cNvSpPr>
          <p:nvPr>
            <p:ph type="subTitle" idx="4294967295"/>
          </p:nvPr>
        </p:nvSpPr>
        <p:spPr>
          <a:xfrm>
            <a:off x="820224" y="2990395"/>
            <a:ext cx="7501951" cy="1184674"/>
          </a:xfrm>
          <a:prstGeom prst="rect">
            <a:avLst/>
          </a:prstGeom>
        </p:spPr>
        <p:txBody>
          <a:bodyPr spcFirstLastPara="1" vert="horz" lIns="91440" tIns="0" rIns="91440" bIns="45720" rtlCol="0" anchor="b" anchorCtr="0">
            <a:normAutofit/>
          </a:bodyPr>
          <a:lstStyle/>
          <a:p>
            <a:pPr marL="0" indent="0" defTabSz="914400">
              <a:lnSpc>
                <a:spcPct val="110000"/>
              </a:lnSpc>
              <a:spcBef>
                <a:spcPts val="1000"/>
              </a:spcBef>
              <a:spcAft>
                <a:spcPts val="600"/>
              </a:spcAft>
              <a:buNone/>
            </a:pPr>
            <a:r>
              <a:rPr lang="en-US" sz="1200" dirty="0"/>
              <a:t>Processed data is organized into a structured spreadsheet, making it easy to spot missing information and ensure data completeness. With mileage already calculated, RPM can be derived instantly using a single formula applied across all entries, enabling faster and more scalable performance analysis.</a:t>
            </a:r>
          </a:p>
        </p:txBody>
      </p:sp>
      <p:pic>
        <p:nvPicPr>
          <p:cNvPr id="3" name="Picture 2">
            <a:extLst>
              <a:ext uri="{FF2B5EF4-FFF2-40B4-BE49-F238E27FC236}">
                <a16:creationId xmlns:a16="http://schemas.microsoft.com/office/drawing/2014/main" id="{67F3B0A8-197A-6FF8-F553-1E58E056B156}"/>
              </a:ext>
            </a:extLst>
          </p:cNvPr>
          <p:cNvPicPr>
            <a:picLocks noChangeAspect="1"/>
          </p:cNvPicPr>
          <p:nvPr/>
        </p:nvPicPr>
        <p:blipFill>
          <a:blip r:embed="rId6"/>
          <a:srcRect/>
          <a:stretch/>
        </p:blipFill>
        <p:spPr>
          <a:xfrm>
            <a:off x="788338" y="1433939"/>
            <a:ext cx="7731837" cy="1701419"/>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121" name="Rectangle 120">
            <a:extLst>
              <a:ext uri="{FF2B5EF4-FFF2-40B4-BE49-F238E27FC236}">
                <a16:creationId xmlns:a16="http://schemas.microsoft.com/office/drawing/2014/main" id="{15B5C763-A6E8-4D31-B139-30D083B824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40749" y="-2038"/>
            <a:ext cx="20574" cy="51434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6315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Shape 88">
          <a:extLst>
            <a:ext uri="{FF2B5EF4-FFF2-40B4-BE49-F238E27FC236}">
              <a16:creationId xmlns:a16="http://schemas.microsoft.com/office/drawing/2014/main" id="{B9B33DF8-11FE-AB04-CFAE-BBE58EF4C2D6}"/>
            </a:ext>
          </a:extLst>
        </p:cNvPr>
        <p:cNvGrpSpPr/>
        <p:nvPr/>
      </p:nvGrpSpPr>
      <p:grpSpPr>
        <a:xfrm>
          <a:off x="0" y="0"/>
          <a:ext cx="0" cy="0"/>
          <a:chOff x="0" y="0"/>
          <a:chExt cx="0" cy="0"/>
        </a:xfrm>
      </p:grpSpPr>
      <p:pic>
        <p:nvPicPr>
          <p:cNvPr id="95" name="Picture 94">
            <a:extLst>
              <a:ext uri="{FF2B5EF4-FFF2-40B4-BE49-F238E27FC236}">
                <a16:creationId xmlns:a16="http://schemas.microsoft.com/office/drawing/2014/main" id="{26AA7C31-76FD-4B44-A1FF-D13D2515AE5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123845" y="1578901"/>
            <a:ext cx="7020154" cy="3564599"/>
          </a:xfrm>
          <a:prstGeom prst="rect">
            <a:avLst/>
          </a:prstGeom>
        </p:spPr>
      </p:pic>
      <p:pic>
        <p:nvPicPr>
          <p:cNvPr id="97" name="Picture 96">
            <a:extLst>
              <a:ext uri="{FF2B5EF4-FFF2-40B4-BE49-F238E27FC236}">
                <a16:creationId xmlns:a16="http://schemas.microsoft.com/office/drawing/2014/main" id="{F5CE85F9-F4EE-4E5D-8235-528527A401D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p:nvSpPr>
          <p:cNvPr id="99" name="Rectangle 98">
            <a:extLst>
              <a:ext uri="{FF2B5EF4-FFF2-40B4-BE49-F238E27FC236}">
                <a16:creationId xmlns:a16="http://schemas.microsoft.com/office/drawing/2014/main" id="{17338BB4-74FF-4836-86B7-F1B0C2B62D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1" name="Rectangle 100">
            <a:extLst>
              <a:ext uri="{FF2B5EF4-FFF2-40B4-BE49-F238E27FC236}">
                <a16:creationId xmlns:a16="http://schemas.microsoft.com/office/drawing/2014/main" id="{1ABFA8A3-A231-4BC1-B8A5-C5BE7315CD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 name="Rectangle 102">
            <a:extLst>
              <a:ext uri="{FF2B5EF4-FFF2-40B4-BE49-F238E27FC236}">
                <a16:creationId xmlns:a16="http://schemas.microsoft.com/office/drawing/2014/main" id="{4D747E59-EDB0-47FA-899B-0621ED112E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5" name="Rectangle 104">
            <a:extLst>
              <a:ext uri="{FF2B5EF4-FFF2-40B4-BE49-F238E27FC236}">
                <a16:creationId xmlns:a16="http://schemas.microsoft.com/office/drawing/2014/main" id="{C2629343-044F-4737-89E9-3E17903419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7" name="TextBox 106">
            <a:extLst>
              <a:ext uri="{FF2B5EF4-FFF2-40B4-BE49-F238E27FC236}">
                <a16:creationId xmlns:a16="http://schemas.microsoft.com/office/drawing/2014/main" id="{C9B9C8E0-18D9-430D-B171-939E0EEEBAB2}"/>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480918"/>
            <a:ext cx="311727" cy="276999"/>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109" name="Rectangle 108">
            <a:extLst>
              <a:ext uri="{FF2B5EF4-FFF2-40B4-BE49-F238E27FC236}">
                <a16:creationId xmlns:a16="http://schemas.microsoft.com/office/drawing/2014/main" id="{796AFA90-1DF2-427D-B002-A09D93A15D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2400" cy="514146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1" name="Picture 110">
            <a:extLst>
              <a:ext uri="{FF2B5EF4-FFF2-40B4-BE49-F238E27FC236}">
                <a16:creationId xmlns:a16="http://schemas.microsoft.com/office/drawing/2014/main" id="{805602A8-6E8C-46E5-8FDD-2BC227550EB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123845" y="1578901"/>
            <a:ext cx="7020154" cy="3564599"/>
          </a:xfrm>
          <a:prstGeom prst="rect">
            <a:avLst/>
          </a:prstGeom>
        </p:spPr>
      </p:pic>
      <p:pic>
        <p:nvPicPr>
          <p:cNvPr id="113" name="Picture 112">
            <a:extLst>
              <a:ext uri="{FF2B5EF4-FFF2-40B4-BE49-F238E27FC236}">
                <a16:creationId xmlns:a16="http://schemas.microsoft.com/office/drawing/2014/main" id="{BB2E129B-3512-41A6-94F1-4B4FEA8178C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p:nvSpPr>
          <p:cNvPr id="115" name="Rectangle 114">
            <a:extLst>
              <a:ext uri="{FF2B5EF4-FFF2-40B4-BE49-F238E27FC236}">
                <a16:creationId xmlns:a16="http://schemas.microsoft.com/office/drawing/2014/main" id="{891C00A1-D917-4D03-B713-9881557CEF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1BA3F0C2-72FC-4945-8B22-3BE47B3972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3410D66C-3847-4B32-B505-01B23358B6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649" y="0"/>
            <a:ext cx="7783501"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Google Shape;89;p29">
            <a:extLst>
              <a:ext uri="{FF2B5EF4-FFF2-40B4-BE49-F238E27FC236}">
                <a16:creationId xmlns:a16="http://schemas.microsoft.com/office/drawing/2014/main" id="{DF699217-3EFE-BFD3-CE6A-7C2F60564308}"/>
              </a:ext>
            </a:extLst>
          </p:cNvPr>
          <p:cNvSpPr txBox="1">
            <a:spLocks noGrp="1"/>
          </p:cNvSpPr>
          <p:nvPr>
            <p:ph type="ctrTitle" idx="4294967295"/>
          </p:nvPr>
        </p:nvSpPr>
        <p:spPr>
          <a:xfrm>
            <a:off x="788867" y="68701"/>
            <a:ext cx="3049990" cy="807921"/>
          </a:xfrm>
          <a:prstGeom prst="rect">
            <a:avLst/>
          </a:prstGeom>
        </p:spPr>
        <p:txBody>
          <a:bodyPr spcFirstLastPara="1" vert="horz" lIns="91440" tIns="45720" rIns="91440" bIns="45720" rtlCol="0" anchor="t" anchorCtr="0">
            <a:noAutofit/>
          </a:bodyPr>
          <a:lstStyle/>
          <a:p>
            <a:pPr lvl="0" algn="l" defTabSz="914400">
              <a:buClr>
                <a:schemeClr val="dk1"/>
              </a:buClr>
              <a:buSzPts val="1100"/>
            </a:pPr>
            <a:r>
              <a:rPr lang="en-US" sz="3200" b="1" dirty="0"/>
              <a:t>Validation &amp; Monitoring Output</a:t>
            </a:r>
            <a:endParaRPr lang="en-US" sz="2800" b="1" dirty="0">
              <a:sym typeface="Inter"/>
            </a:endParaRPr>
          </a:p>
        </p:txBody>
      </p:sp>
      <p:sp>
        <p:nvSpPr>
          <p:cNvPr id="121" name="Rectangle 120">
            <a:extLst>
              <a:ext uri="{FF2B5EF4-FFF2-40B4-BE49-F238E27FC236}">
                <a16:creationId xmlns:a16="http://schemas.microsoft.com/office/drawing/2014/main" id="{C43DB4DB-4F6A-4E8D-B9A3-74E5A84537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83485" y="0"/>
            <a:ext cx="4457657"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9A1FB9FE-09D5-5CBF-DEE5-7744B6F99316}"/>
              </a:ext>
            </a:extLst>
          </p:cNvPr>
          <p:cNvPicPr>
            <a:picLocks noChangeAspect="1"/>
          </p:cNvPicPr>
          <p:nvPr/>
        </p:nvPicPr>
        <p:blipFill>
          <a:blip r:embed="rId6"/>
          <a:stretch>
            <a:fillRect/>
          </a:stretch>
        </p:blipFill>
        <p:spPr>
          <a:xfrm>
            <a:off x="5430740" y="237364"/>
            <a:ext cx="1754385" cy="2213736"/>
          </a:xfrm>
          <a:prstGeom prst="rect">
            <a:avLst/>
          </a:prstGeom>
          <a:ln w="12700">
            <a:noFill/>
          </a:ln>
        </p:spPr>
      </p:pic>
      <p:sp>
        <p:nvSpPr>
          <p:cNvPr id="123" name="Rectangle 122">
            <a:extLst>
              <a:ext uri="{FF2B5EF4-FFF2-40B4-BE49-F238E27FC236}">
                <a16:creationId xmlns:a16="http://schemas.microsoft.com/office/drawing/2014/main" id="{431FCBDC-FCD6-46FA-989A-9B74968965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61867" y="174344"/>
            <a:ext cx="4084835" cy="2335755"/>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9F4A2880-C42B-5099-2461-9921ACAAB55E}"/>
              </a:ext>
            </a:extLst>
          </p:cNvPr>
          <p:cNvPicPr>
            <a:picLocks noChangeAspect="1"/>
          </p:cNvPicPr>
          <p:nvPr/>
        </p:nvPicPr>
        <p:blipFill>
          <a:blip r:embed="rId7"/>
          <a:stretch/>
        </p:blipFill>
        <p:spPr>
          <a:xfrm>
            <a:off x="4322130" y="3056803"/>
            <a:ext cx="3971604" cy="1472197"/>
          </a:xfrm>
          <a:prstGeom prst="rect">
            <a:avLst/>
          </a:prstGeom>
          <a:ln w="12700">
            <a:noFill/>
          </a:ln>
        </p:spPr>
      </p:pic>
      <p:sp>
        <p:nvSpPr>
          <p:cNvPr id="125" name="Rectangle 124">
            <a:extLst>
              <a:ext uri="{FF2B5EF4-FFF2-40B4-BE49-F238E27FC236}">
                <a16:creationId xmlns:a16="http://schemas.microsoft.com/office/drawing/2014/main" id="{C66EB2AB-6794-4C3C-A92D-4876AB0BEF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61867" y="2625626"/>
            <a:ext cx="4084835" cy="2335755"/>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a:extLst>
              <a:ext uri="{FF2B5EF4-FFF2-40B4-BE49-F238E27FC236}">
                <a16:creationId xmlns:a16="http://schemas.microsoft.com/office/drawing/2014/main" id="{A34BD4E6-C736-4064-AF1F-3C5B402E1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40749" y="-2038"/>
            <a:ext cx="20574" cy="51434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Google Shape;90;p29">
            <a:extLst>
              <a:ext uri="{FF2B5EF4-FFF2-40B4-BE49-F238E27FC236}">
                <a16:creationId xmlns:a16="http://schemas.microsoft.com/office/drawing/2014/main" id="{140178CF-FE1D-E5C1-B333-E21D2A214A46}"/>
              </a:ext>
            </a:extLst>
          </p:cNvPr>
          <p:cNvSpPr txBox="1">
            <a:spLocks noGrp="1"/>
          </p:cNvSpPr>
          <p:nvPr>
            <p:ph type="subTitle" idx="4294967295"/>
          </p:nvPr>
        </p:nvSpPr>
        <p:spPr>
          <a:xfrm>
            <a:off x="779738" y="1060289"/>
            <a:ext cx="3238010" cy="2899619"/>
          </a:xfrm>
          <a:prstGeom prst="rect">
            <a:avLst/>
          </a:prstGeom>
          <a:noFill/>
          <a:ln>
            <a:noFill/>
          </a:ln>
        </p:spPr>
        <p:txBody>
          <a:bodyPr spcFirstLastPara="1" wrap="square" lIns="91425" tIns="91425" rIns="91425" bIns="91425" anchor="b" anchorCtr="0">
            <a:noAutofit/>
          </a:bodyPr>
          <a:lstStyle/>
          <a:p>
            <a:pPr marL="0" indent="0">
              <a:lnSpc>
                <a:spcPct val="150000"/>
              </a:lnSpc>
              <a:buNone/>
            </a:pPr>
            <a:r>
              <a:rPr lang="en-US" sz="1200" dirty="0"/>
              <a:t>Confidence scores appear as 0 for custom extractor fields and -1 when no value is detected.</a:t>
            </a:r>
          </a:p>
          <a:p>
            <a:pPr marL="0" indent="0">
              <a:lnSpc>
                <a:spcPct val="150000"/>
              </a:lnSpc>
              <a:buNone/>
            </a:pPr>
            <a:r>
              <a:rPr lang="en-US" sz="1200" dirty="0"/>
              <a:t>An automated alert triggered by validation logic when incomplete or missing data is identified in the extracted results.</a:t>
            </a:r>
          </a:p>
        </p:txBody>
      </p:sp>
    </p:spTree>
    <p:extLst>
      <p:ext uri="{BB962C8B-B14F-4D97-AF65-F5344CB8AC3E}">
        <p14:creationId xmlns:p14="http://schemas.microsoft.com/office/powerpoint/2010/main" val="3050778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8">
          <a:extLst>
            <a:ext uri="{FF2B5EF4-FFF2-40B4-BE49-F238E27FC236}">
              <a16:creationId xmlns:a16="http://schemas.microsoft.com/office/drawing/2014/main" id="{002BBBDB-33FF-3B8F-31B2-3D04895716F3}"/>
            </a:ext>
          </a:extLst>
        </p:cNvPr>
        <p:cNvGrpSpPr/>
        <p:nvPr/>
      </p:nvGrpSpPr>
      <p:grpSpPr>
        <a:xfrm>
          <a:off x="0" y="0"/>
          <a:ext cx="0" cy="0"/>
          <a:chOff x="0" y="0"/>
          <a:chExt cx="0" cy="0"/>
        </a:xfrm>
      </p:grpSpPr>
      <p:pic>
        <p:nvPicPr>
          <p:cNvPr id="95" name="Picture 94">
            <a:extLst>
              <a:ext uri="{FF2B5EF4-FFF2-40B4-BE49-F238E27FC236}">
                <a16:creationId xmlns:a16="http://schemas.microsoft.com/office/drawing/2014/main" id="{3DBBA26C-89C3-411F-9753-606A413F89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1578901"/>
            <a:ext cx="7020154" cy="3564599"/>
          </a:xfrm>
          <a:prstGeom prst="rect">
            <a:avLst/>
          </a:prstGeom>
        </p:spPr>
      </p:pic>
      <p:pic>
        <p:nvPicPr>
          <p:cNvPr id="97" name="Picture 96">
            <a:extLst>
              <a:ext uri="{FF2B5EF4-FFF2-40B4-BE49-F238E27FC236}">
                <a16:creationId xmlns:a16="http://schemas.microsoft.com/office/drawing/2014/main" id="{EEAD2215-6311-4D1C-B6B5-F57CB6BFCBC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p:nvSpPr>
          <p:cNvPr id="99" name="Rectangle 98">
            <a:extLst>
              <a:ext uri="{FF2B5EF4-FFF2-40B4-BE49-F238E27FC236}">
                <a16:creationId xmlns:a16="http://schemas.microsoft.com/office/drawing/2014/main" id="{7BA5DE79-30D1-4A10-8DB9-0A6E523A97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1" name="Rectangle 100">
            <a:extLst>
              <a:ext uri="{FF2B5EF4-FFF2-40B4-BE49-F238E27FC236}">
                <a16:creationId xmlns:a16="http://schemas.microsoft.com/office/drawing/2014/main" id="{9ABD0D63-D23F-4AE7-8270-4185EF9C1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 name="Rectangle 102">
            <a:extLst>
              <a:ext uri="{FF2B5EF4-FFF2-40B4-BE49-F238E27FC236}">
                <a16:creationId xmlns:a16="http://schemas.microsoft.com/office/drawing/2014/main" id="{D5B0B43F-2CE7-4C6C-BABC-EE342B3282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5" name="Rectangle 104">
            <a:extLst>
              <a:ext uri="{FF2B5EF4-FFF2-40B4-BE49-F238E27FC236}">
                <a16:creationId xmlns:a16="http://schemas.microsoft.com/office/drawing/2014/main" id="{85459F07-63F9-48CF-B725-A873C4BC3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7" name="TextBox 106">
            <a:extLst>
              <a:ext uri="{FF2B5EF4-FFF2-40B4-BE49-F238E27FC236}">
                <a16:creationId xmlns:a16="http://schemas.microsoft.com/office/drawing/2014/main" id="{14B83E1E-DAC1-4851-84FF-D6FE1649DE0B}"/>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480918"/>
            <a:ext cx="311727" cy="276999"/>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pic>
        <p:nvPicPr>
          <p:cNvPr id="109" name="Picture 108">
            <a:extLst>
              <a:ext uri="{FF2B5EF4-FFF2-40B4-BE49-F238E27FC236}">
                <a16:creationId xmlns:a16="http://schemas.microsoft.com/office/drawing/2014/main" id="{0214283E-D7B4-49E9-932E-D7F2A2847F1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useBgFill="1">
        <p:nvSpPr>
          <p:cNvPr id="111" name="Rectangle 110">
            <a:extLst>
              <a:ext uri="{FF2B5EF4-FFF2-40B4-BE49-F238E27FC236}">
                <a16:creationId xmlns:a16="http://schemas.microsoft.com/office/drawing/2014/main" id="{92806DFD-E192-42CC-B190-3C4C95B8FF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99" y="0"/>
            <a:ext cx="914240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3" name="Picture 112">
            <a:extLst>
              <a:ext uri="{FF2B5EF4-FFF2-40B4-BE49-F238E27FC236}">
                <a16:creationId xmlns:a16="http://schemas.microsoft.com/office/drawing/2014/main" id="{9FCFF961-4E84-4FD1-859C-B7F410031CB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6344" y="0"/>
            <a:ext cx="3474378" cy="5143500"/>
          </a:xfrm>
          <a:prstGeom prst="rect">
            <a:avLst/>
          </a:prstGeom>
        </p:spPr>
      </p:pic>
      <p:sp>
        <p:nvSpPr>
          <p:cNvPr id="89" name="Google Shape;89;p29">
            <a:extLst>
              <a:ext uri="{FF2B5EF4-FFF2-40B4-BE49-F238E27FC236}">
                <a16:creationId xmlns:a16="http://schemas.microsoft.com/office/drawing/2014/main" id="{631D015D-E8B0-EE8B-F067-E7B2D4586E21}"/>
              </a:ext>
            </a:extLst>
          </p:cNvPr>
          <p:cNvSpPr txBox="1">
            <a:spLocks noGrp="1"/>
          </p:cNvSpPr>
          <p:nvPr>
            <p:ph type="ctrTitle" idx="4294967295"/>
          </p:nvPr>
        </p:nvSpPr>
        <p:spPr>
          <a:xfrm>
            <a:off x="721531" y="901292"/>
            <a:ext cx="2687115" cy="3340915"/>
          </a:xfrm>
          <a:prstGeom prst="rect">
            <a:avLst/>
          </a:prstGeom>
        </p:spPr>
        <p:txBody>
          <a:bodyPr spcFirstLastPara="1" vert="horz" lIns="91440" tIns="45720" rIns="91440" bIns="45720" rtlCol="0" anchor="ctr" anchorCtr="0">
            <a:normAutofit/>
          </a:bodyPr>
          <a:lstStyle/>
          <a:p>
            <a:pPr lvl="0" defTabSz="914400">
              <a:buClr>
                <a:schemeClr val="dk1"/>
              </a:buClr>
              <a:buSzPts val="1100"/>
            </a:pPr>
            <a:r>
              <a:rPr lang="en-US" sz="3600" b="1" dirty="0"/>
              <a:t>Business Impact </a:t>
            </a:r>
            <a:endParaRPr lang="en-US" sz="3300" b="1" dirty="0">
              <a:sym typeface="Inter"/>
            </a:endParaRPr>
          </a:p>
        </p:txBody>
      </p:sp>
      <p:sp>
        <p:nvSpPr>
          <p:cNvPr id="115" name="Rectangle 114">
            <a:extLst>
              <a:ext uri="{FF2B5EF4-FFF2-40B4-BE49-F238E27FC236}">
                <a16:creationId xmlns:a16="http://schemas.microsoft.com/office/drawing/2014/main" id="{BB17FFD2-DBC7-4ABB-B2A0-7E18EC1B8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7" name="Rectangle 116">
            <a:extLst>
              <a:ext uri="{FF2B5EF4-FFF2-40B4-BE49-F238E27FC236}">
                <a16:creationId xmlns:a16="http://schemas.microsoft.com/office/drawing/2014/main" id="{DF737BB4-6553-47A8-893F-178A10C6B6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0" name="Google Shape;90;p29">
            <a:extLst>
              <a:ext uri="{FF2B5EF4-FFF2-40B4-BE49-F238E27FC236}">
                <a16:creationId xmlns:a16="http://schemas.microsoft.com/office/drawing/2014/main" id="{A492F7DA-842F-A1DB-8D86-BC47B172C76A}"/>
              </a:ext>
            </a:extLst>
          </p:cNvPr>
          <p:cNvSpPr txBox="1">
            <a:spLocks noGrp="1"/>
          </p:cNvSpPr>
          <p:nvPr>
            <p:ph type="subTitle" idx="4294967295"/>
          </p:nvPr>
        </p:nvSpPr>
        <p:spPr>
          <a:xfrm>
            <a:off x="3638145" y="97277"/>
            <a:ext cx="4924680" cy="4854102"/>
          </a:xfrm>
          <a:prstGeom prst="rect">
            <a:avLst/>
          </a:prstGeom>
        </p:spPr>
        <p:txBody>
          <a:bodyPr spcFirstLastPara="1" vert="horz" lIns="91440" tIns="45720" rIns="91440" bIns="45720" rtlCol="0" anchor="ctr" anchorCtr="0">
            <a:normAutofit lnSpcReduction="10000"/>
          </a:bodyPr>
          <a:lstStyle/>
          <a:p>
            <a:pPr marL="0" indent="0" defTabSz="914400">
              <a:spcAft>
                <a:spcPts val="600"/>
              </a:spcAft>
              <a:buNone/>
            </a:pPr>
            <a:r>
              <a:rPr lang="en-US" sz="1400" b="1" dirty="0"/>
              <a:t>Operational Improvements:</a:t>
            </a:r>
          </a:p>
          <a:p>
            <a:pPr marL="285750" indent="-285750" defTabSz="914400">
              <a:spcAft>
                <a:spcPts val="600"/>
              </a:spcAft>
            </a:pPr>
            <a:r>
              <a:rPr lang="en-US" sz="1400" dirty="0"/>
              <a:t>Reduced repetitive manual work </a:t>
            </a:r>
          </a:p>
          <a:p>
            <a:pPr marL="285750" indent="-285750" defTabSz="914400">
              <a:spcAft>
                <a:spcPts val="600"/>
              </a:spcAft>
            </a:pPr>
            <a:r>
              <a:rPr lang="en-US" sz="1400" dirty="0"/>
              <a:t>Improved reporting efficiency </a:t>
            </a:r>
          </a:p>
          <a:p>
            <a:pPr marL="285750" indent="-285750" defTabSz="914400">
              <a:spcAft>
                <a:spcPts val="600"/>
              </a:spcAft>
            </a:pPr>
            <a:r>
              <a:rPr lang="en-US" sz="1400" dirty="0"/>
              <a:t>Increased data consistency </a:t>
            </a:r>
          </a:p>
          <a:p>
            <a:pPr marL="285750" indent="-285750" defTabSz="914400">
              <a:spcAft>
                <a:spcPts val="600"/>
              </a:spcAft>
            </a:pPr>
            <a:r>
              <a:rPr lang="en-US" sz="1400" dirty="0"/>
              <a:t>Enabled scalable processing workflow</a:t>
            </a:r>
          </a:p>
          <a:p>
            <a:pPr marL="285750" indent="-285750" defTabSz="914400">
              <a:spcAft>
                <a:spcPts val="600"/>
              </a:spcAft>
            </a:pPr>
            <a:endParaRPr lang="en-US" sz="1400" dirty="0"/>
          </a:p>
          <a:p>
            <a:pPr marL="0" indent="0" defTabSz="914400">
              <a:spcAft>
                <a:spcPts val="600"/>
              </a:spcAft>
              <a:buNone/>
            </a:pPr>
            <a:r>
              <a:rPr lang="en-US" sz="1400" b="1" dirty="0"/>
              <a:t>Technical Achievements:</a:t>
            </a:r>
          </a:p>
          <a:p>
            <a:pPr marL="285750" indent="-285750" defTabSz="914400">
              <a:spcAft>
                <a:spcPts val="600"/>
              </a:spcAft>
            </a:pPr>
            <a:r>
              <a:rPr lang="en-US" sz="1400" dirty="0"/>
              <a:t>AI-powered document extraction</a:t>
            </a:r>
          </a:p>
          <a:p>
            <a:pPr marL="285750" indent="-285750" defTabSz="914400">
              <a:spcAft>
                <a:spcPts val="600"/>
              </a:spcAft>
            </a:pPr>
            <a:r>
              <a:rPr lang="en-US" sz="1400" dirty="0"/>
              <a:t>Automated mileage enrichment </a:t>
            </a:r>
          </a:p>
          <a:p>
            <a:pPr marL="285750" indent="-285750" defTabSz="914400">
              <a:spcAft>
                <a:spcPts val="600"/>
              </a:spcAft>
            </a:pPr>
            <a:r>
              <a:rPr lang="en-US" sz="1400" dirty="0"/>
              <a:t>Validation &amp; monitoring logic </a:t>
            </a:r>
          </a:p>
          <a:p>
            <a:pPr marL="285750" indent="-285750" defTabSz="914400">
              <a:spcAft>
                <a:spcPts val="600"/>
              </a:spcAft>
            </a:pPr>
            <a:r>
              <a:rPr lang="en-US" sz="1400" dirty="0"/>
              <a:t>Structured spreadsheet output</a:t>
            </a:r>
          </a:p>
        </p:txBody>
      </p:sp>
    </p:spTree>
    <p:extLst>
      <p:ext uri="{BB962C8B-B14F-4D97-AF65-F5344CB8AC3E}">
        <p14:creationId xmlns:p14="http://schemas.microsoft.com/office/powerpoint/2010/main" val="2892231607"/>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8">
          <a:extLst>
            <a:ext uri="{FF2B5EF4-FFF2-40B4-BE49-F238E27FC236}">
              <a16:creationId xmlns:a16="http://schemas.microsoft.com/office/drawing/2014/main" id="{C6BA1590-D8E6-7FEA-089F-968C9EF9484D}"/>
            </a:ext>
          </a:extLst>
        </p:cNvPr>
        <p:cNvGrpSpPr/>
        <p:nvPr/>
      </p:nvGrpSpPr>
      <p:grpSpPr>
        <a:xfrm>
          <a:off x="0" y="0"/>
          <a:ext cx="0" cy="0"/>
          <a:chOff x="0" y="0"/>
          <a:chExt cx="0" cy="0"/>
        </a:xfrm>
      </p:grpSpPr>
      <p:pic>
        <p:nvPicPr>
          <p:cNvPr id="95" name="Picture 94">
            <a:extLst>
              <a:ext uri="{FF2B5EF4-FFF2-40B4-BE49-F238E27FC236}">
                <a16:creationId xmlns:a16="http://schemas.microsoft.com/office/drawing/2014/main" id="{3DBBA26C-89C3-411F-9753-606A413F89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1578901"/>
            <a:ext cx="7020154" cy="3564599"/>
          </a:xfrm>
          <a:prstGeom prst="rect">
            <a:avLst/>
          </a:prstGeom>
        </p:spPr>
      </p:pic>
      <p:pic>
        <p:nvPicPr>
          <p:cNvPr id="97" name="Picture 96">
            <a:extLst>
              <a:ext uri="{FF2B5EF4-FFF2-40B4-BE49-F238E27FC236}">
                <a16:creationId xmlns:a16="http://schemas.microsoft.com/office/drawing/2014/main" id="{EEAD2215-6311-4D1C-B6B5-F57CB6BFCBC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p:nvSpPr>
          <p:cNvPr id="99" name="Rectangle 98">
            <a:extLst>
              <a:ext uri="{FF2B5EF4-FFF2-40B4-BE49-F238E27FC236}">
                <a16:creationId xmlns:a16="http://schemas.microsoft.com/office/drawing/2014/main" id="{7BA5DE79-30D1-4A10-8DB9-0A6E523A97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1" name="Rectangle 100">
            <a:extLst>
              <a:ext uri="{FF2B5EF4-FFF2-40B4-BE49-F238E27FC236}">
                <a16:creationId xmlns:a16="http://schemas.microsoft.com/office/drawing/2014/main" id="{9ABD0D63-D23F-4AE7-8270-4185EF9C1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 name="Rectangle 102">
            <a:extLst>
              <a:ext uri="{FF2B5EF4-FFF2-40B4-BE49-F238E27FC236}">
                <a16:creationId xmlns:a16="http://schemas.microsoft.com/office/drawing/2014/main" id="{D5B0B43F-2CE7-4C6C-BABC-EE342B3282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5" name="Rectangle 104">
            <a:extLst>
              <a:ext uri="{FF2B5EF4-FFF2-40B4-BE49-F238E27FC236}">
                <a16:creationId xmlns:a16="http://schemas.microsoft.com/office/drawing/2014/main" id="{85459F07-63F9-48CF-B725-A873C4BC3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7" name="TextBox 106">
            <a:extLst>
              <a:ext uri="{FF2B5EF4-FFF2-40B4-BE49-F238E27FC236}">
                <a16:creationId xmlns:a16="http://schemas.microsoft.com/office/drawing/2014/main" id="{14B83E1E-DAC1-4851-84FF-D6FE1649DE0B}"/>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480918"/>
            <a:ext cx="311727" cy="276999"/>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pic>
        <p:nvPicPr>
          <p:cNvPr id="109" name="Picture 108">
            <a:extLst>
              <a:ext uri="{FF2B5EF4-FFF2-40B4-BE49-F238E27FC236}">
                <a16:creationId xmlns:a16="http://schemas.microsoft.com/office/drawing/2014/main" id="{0214283E-D7B4-49E9-932E-D7F2A2847F1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useBgFill="1">
        <p:nvSpPr>
          <p:cNvPr id="111" name="Rectangle 110">
            <a:extLst>
              <a:ext uri="{FF2B5EF4-FFF2-40B4-BE49-F238E27FC236}">
                <a16:creationId xmlns:a16="http://schemas.microsoft.com/office/drawing/2014/main" id="{92806DFD-E192-42CC-B190-3C4C95B8FF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99" y="0"/>
            <a:ext cx="914240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3" name="Picture 112">
            <a:extLst>
              <a:ext uri="{FF2B5EF4-FFF2-40B4-BE49-F238E27FC236}">
                <a16:creationId xmlns:a16="http://schemas.microsoft.com/office/drawing/2014/main" id="{9FCFF961-4E84-4FD1-859C-B7F410031CB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6344" y="0"/>
            <a:ext cx="3474378" cy="5143500"/>
          </a:xfrm>
          <a:prstGeom prst="rect">
            <a:avLst/>
          </a:prstGeom>
        </p:spPr>
      </p:pic>
      <p:sp>
        <p:nvSpPr>
          <p:cNvPr id="89" name="Google Shape;89;p29">
            <a:extLst>
              <a:ext uri="{FF2B5EF4-FFF2-40B4-BE49-F238E27FC236}">
                <a16:creationId xmlns:a16="http://schemas.microsoft.com/office/drawing/2014/main" id="{09EFE73A-E347-8D88-2054-B8CA4057B9E5}"/>
              </a:ext>
            </a:extLst>
          </p:cNvPr>
          <p:cNvSpPr txBox="1">
            <a:spLocks noGrp="1"/>
          </p:cNvSpPr>
          <p:nvPr>
            <p:ph type="ctrTitle" idx="4294967295"/>
          </p:nvPr>
        </p:nvSpPr>
        <p:spPr>
          <a:xfrm>
            <a:off x="770564" y="901292"/>
            <a:ext cx="2720158" cy="3340915"/>
          </a:xfrm>
          <a:prstGeom prst="rect">
            <a:avLst/>
          </a:prstGeom>
        </p:spPr>
        <p:txBody>
          <a:bodyPr spcFirstLastPara="1" vert="horz" lIns="91440" tIns="45720" rIns="91440" bIns="45720" rtlCol="0" anchor="ctr" anchorCtr="0">
            <a:normAutofit/>
          </a:bodyPr>
          <a:lstStyle/>
          <a:p>
            <a:pPr lvl="0" defTabSz="914400">
              <a:buClr>
                <a:schemeClr val="dk1"/>
              </a:buClr>
              <a:buSzPts val="1100"/>
            </a:pPr>
            <a:r>
              <a:rPr lang="en-US" sz="2800" b="1" dirty="0"/>
              <a:t>Production Readiness &amp; Future Enhancements</a:t>
            </a:r>
            <a:endParaRPr lang="en-US" sz="2800" b="1" dirty="0">
              <a:sym typeface="Inter"/>
            </a:endParaRPr>
          </a:p>
        </p:txBody>
      </p:sp>
      <p:sp>
        <p:nvSpPr>
          <p:cNvPr id="115" name="Rectangle 114">
            <a:extLst>
              <a:ext uri="{FF2B5EF4-FFF2-40B4-BE49-F238E27FC236}">
                <a16:creationId xmlns:a16="http://schemas.microsoft.com/office/drawing/2014/main" id="{BB17FFD2-DBC7-4ABB-B2A0-7E18EC1B8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7" name="Rectangle 116">
            <a:extLst>
              <a:ext uri="{FF2B5EF4-FFF2-40B4-BE49-F238E27FC236}">
                <a16:creationId xmlns:a16="http://schemas.microsoft.com/office/drawing/2014/main" id="{DF737BB4-6553-47A8-893F-178A10C6B6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0" name="Google Shape;90;p29">
            <a:extLst>
              <a:ext uri="{FF2B5EF4-FFF2-40B4-BE49-F238E27FC236}">
                <a16:creationId xmlns:a16="http://schemas.microsoft.com/office/drawing/2014/main" id="{D7A21999-852E-079E-0FAB-1A28847F6CCB}"/>
              </a:ext>
            </a:extLst>
          </p:cNvPr>
          <p:cNvSpPr txBox="1">
            <a:spLocks noGrp="1"/>
          </p:cNvSpPr>
          <p:nvPr>
            <p:ph type="subTitle" idx="4294967295"/>
          </p:nvPr>
        </p:nvSpPr>
        <p:spPr>
          <a:xfrm>
            <a:off x="3667327" y="-1"/>
            <a:ext cx="5058383" cy="5143499"/>
          </a:xfrm>
          <a:prstGeom prst="rect">
            <a:avLst/>
          </a:prstGeom>
        </p:spPr>
        <p:txBody>
          <a:bodyPr spcFirstLastPara="1" vert="horz" lIns="91440" tIns="45720" rIns="91440" bIns="45720" rtlCol="0" anchor="ctr" anchorCtr="0">
            <a:normAutofit/>
          </a:bodyPr>
          <a:lstStyle/>
          <a:p>
            <a:pPr marL="0" indent="0" defTabSz="914400">
              <a:lnSpc>
                <a:spcPct val="110000"/>
              </a:lnSpc>
              <a:spcAft>
                <a:spcPts val="600"/>
              </a:spcAft>
              <a:buNone/>
            </a:pPr>
            <a:r>
              <a:rPr lang="en-US" sz="1400" b="1" dirty="0"/>
              <a:t>How AI improved it:</a:t>
            </a:r>
            <a:endParaRPr lang="en-US" sz="1400" dirty="0"/>
          </a:p>
          <a:p>
            <a:pPr marL="285750" indent="-285750" defTabSz="914400">
              <a:lnSpc>
                <a:spcPct val="110000"/>
              </a:lnSpc>
              <a:spcAft>
                <a:spcPts val="600"/>
              </a:spcAft>
            </a:pPr>
            <a:r>
              <a:rPr lang="en-US" sz="1400" dirty="0"/>
              <a:t>Automated extraction of key shipment data from unstructured documents </a:t>
            </a:r>
          </a:p>
          <a:p>
            <a:pPr marL="285750" indent="-285750" defTabSz="914400">
              <a:lnSpc>
                <a:spcPct val="110000"/>
              </a:lnSpc>
              <a:spcAft>
                <a:spcPts val="600"/>
              </a:spcAft>
            </a:pPr>
            <a:r>
              <a:rPr lang="en-US" sz="1400" dirty="0"/>
              <a:t>AI-based mileage calculation eliminates the need for manual lookup </a:t>
            </a:r>
          </a:p>
          <a:p>
            <a:pPr marL="285750" indent="-285750" defTabSz="914400">
              <a:lnSpc>
                <a:spcPct val="110000"/>
              </a:lnSpc>
              <a:spcAft>
                <a:spcPts val="600"/>
              </a:spcAft>
            </a:pPr>
            <a:r>
              <a:rPr lang="en-US" sz="1400" dirty="0"/>
              <a:t>Enhances scalability by handling large volumes of documents efficiently </a:t>
            </a:r>
          </a:p>
          <a:p>
            <a:pPr marL="285750" indent="-285750" defTabSz="914400">
              <a:lnSpc>
                <a:spcPct val="110000"/>
              </a:lnSpc>
              <a:spcAft>
                <a:spcPts val="600"/>
              </a:spcAft>
            </a:pPr>
            <a:endParaRPr lang="en-US" sz="1400" dirty="0"/>
          </a:p>
          <a:p>
            <a:pPr marL="0" indent="0" defTabSz="914400">
              <a:lnSpc>
                <a:spcPct val="110000"/>
              </a:lnSpc>
              <a:spcAft>
                <a:spcPts val="600"/>
              </a:spcAft>
              <a:buNone/>
            </a:pPr>
            <a:r>
              <a:rPr lang="en-US" sz="1400" b="1" dirty="0"/>
              <a:t>Future Enhancements:</a:t>
            </a:r>
            <a:endParaRPr lang="en-US" sz="1400" dirty="0"/>
          </a:p>
          <a:p>
            <a:pPr marL="285750" indent="-285750" defTabSz="914400">
              <a:lnSpc>
                <a:spcPct val="110000"/>
              </a:lnSpc>
              <a:spcAft>
                <a:spcPts val="600"/>
              </a:spcAft>
            </a:pPr>
            <a:r>
              <a:rPr lang="en-US" sz="1400" dirty="0"/>
              <a:t>Replace LLM mileage with Google Maps API for higher accuracy </a:t>
            </a:r>
          </a:p>
          <a:p>
            <a:pPr marL="285750" indent="-285750" defTabSz="914400">
              <a:lnSpc>
                <a:spcPct val="110000"/>
              </a:lnSpc>
              <a:spcAft>
                <a:spcPts val="600"/>
              </a:spcAft>
            </a:pPr>
            <a:r>
              <a:rPr lang="en-US" sz="1400" dirty="0"/>
              <a:t>Implement a custom-trained extraction model to improve confidence scoring and document accuracy across varying broker formats</a:t>
            </a:r>
          </a:p>
        </p:txBody>
      </p:sp>
    </p:spTree>
    <p:extLst>
      <p:ext uri="{BB962C8B-B14F-4D97-AF65-F5344CB8AC3E}">
        <p14:creationId xmlns:p14="http://schemas.microsoft.com/office/powerpoint/2010/main" val="1524039286"/>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8">
          <a:extLst>
            <a:ext uri="{FF2B5EF4-FFF2-40B4-BE49-F238E27FC236}">
              <a16:creationId xmlns:a16="http://schemas.microsoft.com/office/drawing/2014/main" id="{68D29E93-BEFA-27F9-F697-A381B524F64A}"/>
            </a:ext>
          </a:extLst>
        </p:cNvPr>
        <p:cNvGrpSpPr/>
        <p:nvPr/>
      </p:nvGrpSpPr>
      <p:grpSpPr>
        <a:xfrm>
          <a:off x="0" y="0"/>
          <a:ext cx="0" cy="0"/>
          <a:chOff x="0" y="0"/>
          <a:chExt cx="0" cy="0"/>
        </a:xfrm>
      </p:grpSpPr>
      <p:pic>
        <p:nvPicPr>
          <p:cNvPr id="95" name="Picture 94">
            <a:extLst>
              <a:ext uri="{FF2B5EF4-FFF2-40B4-BE49-F238E27FC236}">
                <a16:creationId xmlns:a16="http://schemas.microsoft.com/office/drawing/2014/main" id="{3DBBA26C-89C3-411F-9753-606A413F89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1578901"/>
            <a:ext cx="7020154" cy="3564599"/>
          </a:xfrm>
          <a:prstGeom prst="rect">
            <a:avLst/>
          </a:prstGeom>
        </p:spPr>
      </p:pic>
      <p:pic>
        <p:nvPicPr>
          <p:cNvPr id="97" name="Picture 96">
            <a:extLst>
              <a:ext uri="{FF2B5EF4-FFF2-40B4-BE49-F238E27FC236}">
                <a16:creationId xmlns:a16="http://schemas.microsoft.com/office/drawing/2014/main" id="{EEAD2215-6311-4D1C-B6B5-F57CB6BFCBC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p:nvSpPr>
          <p:cNvPr id="99" name="Rectangle 98">
            <a:extLst>
              <a:ext uri="{FF2B5EF4-FFF2-40B4-BE49-F238E27FC236}">
                <a16:creationId xmlns:a16="http://schemas.microsoft.com/office/drawing/2014/main" id="{7BA5DE79-30D1-4A10-8DB9-0A6E523A97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1" name="Rectangle 100">
            <a:extLst>
              <a:ext uri="{FF2B5EF4-FFF2-40B4-BE49-F238E27FC236}">
                <a16:creationId xmlns:a16="http://schemas.microsoft.com/office/drawing/2014/main" id="{9ABD0D63-D23F-4AE7-8270-4185EF9C1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 name="Rectangle 102">
            <a:extLst>
              <a:ext uri="{FF2B5EF4-FFF2-40B4-BE49-F238E27FC236}">
                <a16:creationId xmlns:a16="http://schemas.microsoft.com/office/drawing/2014/main" id="{D5B0B43F-2CE7-4C6C-BABC-EE342B3282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5" name="Rectangle 104">
            <a:extLst>
              <a:ext uri="{FF2B5EF4-FFF2-40B4-BE49-F238E27FC236}">
                <a16:creationId xmlns:a16="http://schemas.microsoft.com/office/drawing/2014/main" id="{85459F07-63F9-48CF-B725-A873C4BC3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7" name="TextBox 106">
            <a:extLst>
              <a:ext uri="{FF2B5EF4-FFF2-40B4-BE49-F238E27FC236}">
                <a16:creationId xmlns:a16="http://schemas.microsoft.com/office/drawing/2014/main" id="{14B83E1E-DAC1-4851-84FF-D6FE1649DE0B}"/>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480918"/>
            <a:ext cx="311727" cy="276999"/>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pic>
        <p:nvPicPr>
          <p:cNvPr id="109" name="Picture 108">
            <a:extLst>
              <a:ext uri="{FF2B5EF4-FFF2-40B4-BE49-F238E27FC236}">
                <a16:creationId xmlns:a16="http://schemas.microsoft.com/office/drawing/2014/main" id="{0214283E-D7B4-49E9-932E-D7F2A2847F1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5143500"/>
          </a:xfrm>
          <a:prstGeom prst="rect">
            <a:avLst/>
          </a:prstGeom>
        </p:spPr>
      </p:pic>
      <p:sp useBgFill="1">
        <p:nvSpPr>
          <p:cNvPr id="111" name="Rectangle 110">
            <a:extLst>
              <a:ext uri="{FF2B5EF4-FFF2-40B4-BE49-F238E27FC236}">
                <a16:creationId xmlns:a16="http://schemas.microsoft.com/office/drawing/2014/main" id="{92806DFD-E192-42CC-B190-3C4C95B8FF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99" y="0"/>
            <a:ext cx="914240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3" name="Picture 112">
            <a:extLst>
              <a:ext uri="{FF2B5EF4-FFF2-40B4-BE49-F238E27FC236}">
                <a16:creationId xmlns:a16="http://schemas.microsoft.com/office/drawing/2014/main" id="{9FCFF961-4E84-4FD1-859C-B7F410031CB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6344" y="0"/>
            <a:ext cx="3474378" cy="5143500"/>
          </a:xfrm>
          <a:prstGeom prst="rect">
            <a:avLst/>
          </a:prstGeom>
        </p:spPr>
      </p:pic>
      <p:sp>
        <p:nvSpPr>
          <p:cNvPr id="89" name="Google Shape;89;p29">
            <a:extLst>
              <a:ext uri="{FF2B5EF4-FFF2-40B4-BE49-F238E27FC236}">
                <a16:creationId xmlns:a16="http://schemas.microsoft.com/office/drawing/2014/main" id="{12567F5C-4D3C-7678-2AF9-9055A3D8CE92}"/>
              </a:ext>
            </a:extLst>
          </p:cNvPr>
          <p:cNvSpPr txBox="1">
            <a:spLocks noGrp="1"/>
          </p:cNvSpPr>
          <p:nvPr>
            <p:ph type="ctrTitle" idx="4294967295"/>
          </p:nvPr>
        </p:nvSpPr>
        <p:spPr>
          <a:xfrm>
            <a:off x="1041975" y="901292"/>
            <a:ext cx="2166090" cy="3340915"/>
          </a:xfrm>
          <a:prstGeom prst="rect">
            <a:avLst/>
          </a:prstGeom>
        </p:spPr>
        <p:txBody>
          <a:bodyPr spcFirstLastPara="1" vert="horz" lIns="91440" tIns="45720" rIns="91440" bIns="45720" rtlCol="0" anchor="ctr" anchorCtr="0">
            <a:normAutofit/>
          </a:bodyPr>
          <a:lstStyle/>
          <a:p>
            <a:pPr defTabSz="914400"/>
            <a:r>
              <a:rPr lang="en-US" sz="3300" b="1" dirty="0"/>
              <a:t>Business Value</a:t>
            </a:r>
          </a:p>
        </p:txBody>
      </p:sp>
      <p:sp>
        <p:nvSpPr>
          <p:cNvPr id="115" name="Rectangle 114">
            <a:extLst>
              <a:ext uri="{FF2B5EF4-FFF2-40B4-BE49-F238E27FC236}">
                <a16:creationId xmlns:a16="http://schemas.microsoft.com/office/drawing/2014/main" id="{BB17FFD2-DBC7-4ABB-B2A0-7E18EC1B8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51435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7" name="Rectangle 116">
            <a:extLst>
              <a:ext uri="{FF2B5EF4-FFF2-40B4-BE49-F238E27FC236}">
                <a16:creationId xmlns:a16="http://schemas.microsoft.com/office/drawing/2014/main" id="{DF737BB4-6553-47A8-893F-178A10C6B6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0" name="Google Shape;90;p29">
            <a:extLst>
              <a:ext uri="{FF2B5EF4-FFF2-40B4-BE49-F238E27FC236}">
                <a16:creationId xmlns:a16="http://schemas.microsoft.com/office/drawing/2014/main" id="{73DF259A-59FA-53B3-3593-AE4DC0D6C982}"/>
              </a:ext>
            </a:extLst>
          </p:cNvPr>
          <p:cNvSpPr txBox="1">
            <a:spLocks noGrp="1"/>
          </p:cNvSpPr>
          <p:nvPr>
            <p:ph type="subTitle" idx="4294967295"/>
          </p:nvPr>
        </p:nvSpPr>
        <p:spPr>
          <a:xfrm>
            <a:off x="3520951" y="126460"/>
            <a:ext cx="5457679" cy="4902740"/>
          </a:xfrm>
          <a:prstGeom prst="rect">
            <a:avLst/>
          </a:prstGeom>
        </p:spPr>
        <p:txBody>
          <a:bodyPr spcFirstLastPara="1" vert="horz" lIns="91440" tIns="45720" rIns="91440" bIns="45720" rtlCol="0" anchor="ctr" anchorCtr="0">
            <a:normAutofit/>
          </a:bodyPr>
          <a:lstStyle/>
          <a:p>
            <a:pPr marL="285750" indent="-285750" defTabSz="914400">
              <a:lnSpc>
                <a:spcPct val="110000"/>
              </a:lnSpc>
              <a:spcAft>
                <a:spcPts val="600"/>
              </a:spcAft>
            </a:pPr>
            <a:r>
              <a:rPr lang="en-US" sz="1400" b="1" dirty="0"/>
              <a:t>Time Efficiency:</a:t>
            </a:r>
            <a:br>
              <a:rPr lang="en-US" sz="1400" dirty="0"/>
            </a:br>
            <a:r>
              <a:rPr lang="en-US" sz="1400" dirty="0"/>
              <a:t>Automates repetitive tasks such as document review, data entry, and mileage calculation </a:t>
            </a:r>
          </a:p>
          <a:p>
            <a:pPr marL="285750" indent="-285750" defTabSz="914400">
              <a:lnSpc>
                <a:spcPct val="110000"/>
              </a:lnSpc>
              <a:spcAft>
                <a:spcPts val="600"/>
              </a:spcAft>
            </a:pPr>
            <a:r>
              <a:rPr lang="en-US" sz="1400" b="1" dirty="0"/>
              <a:t>Accuracy &amp; Data Quality:</a:t>
            </a:r>
            <a:br>
              <a:rPr lang="en-US" sz="1400" dirty="0"/>
            </a:br>
            <a:r>
              <a:rPr lang="en-US" sz="1400" dirty="0"/>
              <a:t>Reduces human errors and flags missing or incomplete data for review </a:t>
            </a:r>
          </a:p>
          <a:p>
            <a:pPr marL="285750" indent="-285750" defTabSz="914400">
              <a:lnSpc>
                <a:spcPct val="110000"/>
              </a:lnSpc>
              <a:spcAft>
                <a:spcPts val="600"/>
              </a:spcAft>
            </a:pPr>
            <a:r>
              <a:rPr lang="en-US" sz="1400" b="1" dirty="0"/>
              <a:t>Scalability:</a:t>
            </a:r>
            <a:br>
              <a:rPr lang="en-US" sz="1400" dirty="0"/>
            </a:br>
            <a:r>
              <a:rPr lang="en-US" sz="1400" dirty="0"/>
              <a:t>Enables processing of large volumes of rate confirmations without additional manual effort </a:t>
            </a:r>
          </a:p>
          <a:p>
            <a:pPr marL="285750" indent="-285750" defTabSz="914400">
              <a:lnSpc>
                <a:spcPct val="110000"/>
              </a:lnSpc>
              <a:spcAft>
                <a:spcPts val="600"/>
              </a:spcAft>
            </a:pPr>
            <a:r>
              <a:rPr lang="en-US" sz="1400" b="1" dirty="0"/>
              <a:t>Operational Visibility:</a:t>
            </a:r>
            <a:br>
              <a:rPr lang="en-US" sz="1400" dirty="0"/>
            </a:br>
            <a:r>
              <a:rPr lang="en-US" sz="1400" dirty="0"/>
              <a:t>Structured data allows instant calculation of KPIs like RPM and overall performance </a:t>
            </a:r>
          </a:p>
          <a:p>
            <a:pPr marL="285750" indent="-285750" defTabSz="914400">
              <a:lnSpc>
                <a:spcPct val="110000"/>
              </a:lnSpc>
              <a:spcAft>
                <a:spcPts val="600"/>
              </a:spcAft>
            </a:pPr>
            <a:r>
              <a:rPr lang="en-US" sz="1400" b="1" dirty="0"/>
              <a:t>Faster Decision-Making:</a:t>
            </a:r>
            <a:br>
              <a:rPr lang="en-US" sz="1400" dirty="0"/>
            </a:br>
            <a:r>
              <a:rPr lang="en-US" sz="1400" dirty="0"/>
              <a:t>Provides clean, ready-to-use data for analyzing profitability and load efficiency </a:t>
            </a:r>
          </a:p>
        </p:txBody>
      </p:sp>
    </p:spTree>
    <p:extLst>
      <p:ext uri="{BB962C8B-B14F-4D97-AF65-F5344CB8AC3E}">
        <p14:creationId xmlns:p14="http://schemas.microsoft.com/office/powerpoint/2010/main" val="4173567625"/>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683</TotalTime>
  <Words>1096</Words>
  <Application>Microsoft Macintosh PowerPoint</Application>
  <PresentationFormat>On-screen Show (16:9)</PresentationFormat>
  <Paragraphs>149</Paragraphs>
  <Slides>17</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Wingdings 3</vt:lpstr>
      <vt:lpstr>Inter ExtraBold</vt:lpstr>
      <vt:lpstr>MS Shell Dlg 2</vt:lpstr>
      <vt:lpstr>Arial</vt:lpstr>
      <vt:lpstr>Wingdings</vt:lpstr>
      <vt:lpstr>Inter</vt:lpstr>
      <vt:lpstr>Inter Medium</vt:lpstr>
      <vt:lpstr>Madison</vt:lpstr>
      <vt:lpstr>AI-Powered Rate Confirmation Processing Automation</vt:lpstr>
      <vt:lpstr>Business Context </vt:lpstr>
      <vt:lpstr>Manual Rate Confirmation Processing </vt:lpstr>
      <vt:lpstr>Automation Solution </vt:lpstr>
      <vt:lpstr>Proposed Automation  Solution</vt:lpstr>
      <vt:lpstr>Automation Architecture Components</vt:lpstr>
      <vt:lpstr>Document Understanding &amp; Custom Extractor</vt:lpstr>
      <vt:lpstr>AI-Powered Mileage Calculation</vt:lpstr>
      <vt:lpstr>Data Mapping &amp; Debugging</vt:lpstr>
      <vt:lpstr>Data Mapping &amp; Debugging</vt:lpstr>
      <vt:lpstr>Validation Logic</vt:lpstr>
      <vt:lpstr>Key Outcomes</vt:lpstr>
      <vt:lpstr>Structured Data Output</vt:lpstr>
      <vt:lpstr>Validation &amp; Monitoring Output</vt:lpstr>
      <vt:lpstr>Business Impact </vt:lpstr>
      <vt:lpstr>Production Readiness &amp; Future Enhancements</vt:lpstr>
      <vt:lpstr>Business Value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maryna khlynina</cp:lastModifiedBy>
  <cp:revision>6</cp:revision>
  <dcterms:modified xsi:type="dcterms:W3CDTF">2026-05-21T14:25:08Z</dcterms:modified>
</cp:coreProperties>
</file>