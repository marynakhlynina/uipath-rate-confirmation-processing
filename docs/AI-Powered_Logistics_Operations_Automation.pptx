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29" r:id="rId1"/>
  </p:sldMasterIdLst>
  <p:notesMasterIdLst>
    <p:notesMasterId r:id="rId17"/>
  </p:notesMasterIdLst>
  <p:sldIdLst>
    <p:sldId id="256" r:id="rId2"/>
    <p:sldId id="257" r:id="rId3"/>
    <p:sldId id="274" r:id="rId4"/>
    <p:sldId id="272" r:id="rId5"/>
    <p:sldId id="258" r:id="rId6"/>
    <p:sldId id="275" r:id="rId7"/>
    <p:sldId id="276" r:id="rId8"/>
    <p:sldId id="277" r:id="rId9"/>
    <p:sldId id="278" r:id="rId10"/>
    <p:sldId id="279" r:id="rId11"/>
    <p:sldId id="281" r:id="rId12"/>
    <p:sldId id="265" r:id="rId13"/>
    <p:sldId id="280" r:id="rId14"/>
    <p:sldId id="282" r:id="rId15"/>
    <p:sldId id="283" r:id="rId16"/>
  </p:sldIdLst>
  <p:sldSz cx="9144000" cy="5143500" type="screen16x9"/>
  <p:notesSz cx="6858000" cy="9144000"/>
  <p:embeddedFontLst>
    <p:embeddedFont>
      <p:font typeface="Inter ExtraBold" panose="02000503000000020004" pitchFamily="2" charset="0"/>
      <p:bold r:id="rId18"/>
      <p:italic r:id="rId19"/>
      <p:boldItalic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8"/>
    <p:restoredTop sz="94643"/>
  </p:normalViewPr>
  <p:slideViewPr>
    <p:cSldViewPr snapToGrid="0">
      <p:cViewPr varScale="1">
        <p:scale>
          <a:sx n="134" d="100"/>
          <a:sy n="134" d="100"/>
        </p:scale>
        <p:origin x="6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e7cf68d7d_0_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e7cf68d7d_0_4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e7cf68d7d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e7cf68d7d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0C6F3C79-DEAD-FCB1-6A79-7FCA26B1E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e7cf68d7d_0_79:notes">
            <a:extLst>
              <a:ext uri="{FF2B5EF4-FFF2-40B4-BE49-F238E27FC236}">
                <a16:creationId xmlns:a16="http://schemas.microsoft.com/office/drawing/2014/main" id="{CB1F042E-4120-FBD9-07E4-46563E382A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e7cf68d7d_0_79:notes">
            <a:extLst>
              <a:ext uri="{FF2B5EF4-FFF2-40B4-BE49-F238E27FC236}">
                <a16:creationId xmlns:a16="http://schemas.microsoft.com/office/drawing/2014/main" id="{48CDD697-F1ED-E624-A72D-C181D03B36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0375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C527016-B93F-3967-A8B4-1ECD4897B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e7cf68d7d_0_147:notes">
            <a:extLst>
              <a:ext uri="{FF2B5EF4-FFF2-40B4-BE49-F238E27FC236}">
                <a16:creationId xmlns:a16="http://schemas.microsoft.com/office/drawing/2014/main" id="{B3FFE3C4-6C7F-F2F9-AD19-9D1DB40F3B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e7cf68d7d_0_147:notes">
            <a:extLst>
              <a:ext uri="{FF2B5EF4-FFF2-40B4-BE49-F238E27FC236}">
                <a16:creationId xmlns:a16="http://schemas.microsoft.com/office/drawing/2014/main" id="{A8E5CE13-91E8-4ADC-DB3A-E611A417D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7676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e7cf68d7d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e7cf68d7d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100C316-AFF6-D20F-5381-0520FD5A4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e7cf68d7d_0_147:notes">
            <a:extLst>
              <a:ext uri="{FF2B5EF4-FFF2-40B4-BE49-F238E27FC236}">
                <a16:creationId xmlns:a16="http://schemas.microsoft.com/office/drawing/2014/main" id="{CBAFC11B-A795-3989-119B-3A42F0FBBF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e7cf68d7d_0_147:notes">
            <a:extLst>
              <a:ext uri="{FF2B5EF4-FFF2-40B4-BE49-F238E27FC236}">
                <a16:creationId xmlns:a16="http://schemas.microsoft.com/office/drawing/2014/main" id="{AA59E148-17CE-F3C5-9056-84919F427D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24049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0C828AA3-31B5-B893-D53F-F88F2A384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e7cf68d7d_0_79:notes">
            <a:extLst>
              <a:ext uri="{FF2B5EF4-FFF2-40B4-BE49-F238E27FC236}">
                <a16:creationId xmlns:a16="http://schemas.microsoft.com/office/drawing/2014/main" id="{AAACE5F8-5021-1702-246A-5F00D326B1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e7cf68d7d_0_79:notes">
            <a:extLst>
              <a:ext uri="{FF2B5EF4-FFF2-40B4-BE49-F238E27FC236}">
                <a16:creationId xmlns:a16="http://schemas.microsoft.com/office/drawing/2014/main" id="{2164CA3D-883B-8670-5BF0-CB0A513C63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8585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87760064-BA7B-F71B-334B-5292BA1CA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e7cf68d7d_0_79:notes">
            <a:extLst>
              <a:ext uri="{FF2B5EF4-FFF2-40B4-BE49-F238E27FC236}">
                <a16:creationId xmlns:a16="http://schemas.microsoft.com/office/drawing/2014/main" id="{C2439F70-E8E0-B0A6-9994-EC3DA620DC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e7cf68d7d_0_79:notes">
            <a:extLst>
              <a:ext uri="{FF2B5EF4-FFF2-40B4-BE49-F238E27FC236}">
                <a16:creationId xmlns:a16="http://schemas.microsoft.com/office/drawing/2014/main" id="{371D8DFC-25A2-F7F5-A3B3-DD07B5B4D4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1660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C6AEC382-0B26-DF4D-2BB6-B68C8AD10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e7cf68d7d_0_79:notes">
            <a:extLst>
              <a:ext uri="{FF2B5EF4-FFF2-40B4-BE49-F238E27FC236}">
                <a16:creationId xmlns:a16="http://schemas.microsoft.com/office/drawing/2014/main" id="{445460C5-5823-F693-1887-D888157355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e7cf68d7d_0_79:notes">
            <a:extLst>
              <a:ext uri="{FF2B5EF4-FFF2-40B4-BE49-F238E27FC236}">
                <a16:creationId xmlns:a16="http://schemas.microsoft.com/office/drawing/2014/main" id="{C3703365-3EF4-CAB8-2828-79E0FB1D96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2819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E0B6D74E-3227-9D7E-127B-27B5D5DA4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e7cf68d7d_0_79:notes">
            <a:extLst>
              <a:ext uri="{FF2B5EF4-FFF2-40B4-BE49-F238E27FC236}">
                <a16:creationId xmlns:a16="http://schemas.microsoft.com/office/drawing/2014/main" id="{35238838-EC3E-7D8C-42D3-594786E8D1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e7cf68d7d_0_79:notes">
            <a:extLst>
              <a:ext uri="{FF2B5EF4-FFF2-40B4-BE49-F238E27FC236}">
                <a16:creationId xmlns:a16="http://schemas.microsoft.com/office/drawing/2014/main" id="{627DCD15-0021-24CA-D4DE-30862B703C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67227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6B5B919D-DBB5-FBDF-2BCD-BB81DB2F8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e7cf68d7d_0_79:notes">
            <a:extLst>
              <a:ext uri="{FF2B5EF4-FFF2-40B4-BE49-F238E27FC236}">
                <a16:creationId xmlns:a16="http://schemas.microsoft.com/office/drawing/2014/main" id="{4C5FB1D9-ADDB-92CD-7AE1-DDF77ED7F8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e7cf68d7d_0_79:notes">
            <a:extLst>
              <a:ext uri="{FF2B5EF4-FFF2-40B4-BE49-F238E27FC236}">
                <a16:creationId xmlns:a16="http://schemas.microsoft.com/office/drawing/2014/main" id="{9A7E5299-1E06-E2D3-A3DC-9544041327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377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78C4E861-5ABB-F6EE-E13F-AC9EB3EE0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e7cf68d7d_0_79:notes">
            <a:extLst>
              <a:ext uri="{FF2B5EF4-FFF2-40B4-BE49-F238E27FC236}">
                <a16:creationId xmlns:a16="http://schemas.microsoft.com/office/drawing/2014/main" id="{A86BE66A-7696-66A4-BA0B-6E50F38B3B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e7cf68d7d_0_79:notes">
            <a:extLst>
              <a:ext uri="{FF2B5EF4-FFF2-40B4-BE49-F238E27FC236}">
                <a16:creationId xmlns:a16="http://schemas.microsoft.com/office/drawing/2014/main" id="{48B6E9FA-9857-ACDF-7758-A84003A988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4828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6352606-52F0-9843-F61A-97FA18210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e7cf68d7d_0_147:notes">
            <a:extLst>
              <a:ext uri="{FF2B5EF4-FFF2-40B4-BE49-F238E27FC236}">
                <a16:creationId xmlns:a16="http://schemas.microsoft.com/office/drawing/2014/main" id="{982092A8-93C6-128E-38A6-27EFEDC810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e7cf68d7d_0_147:notes">
            <a:extLst>
              <a:ext uri="{FF2B5EF4-FFF2-40B4-BE49-F238E27FC236}">
                <a16:creationId xmlns:a16="http://schemas.microsoft.com/office/drawing/2014/main" id="{D1AADFA6-F5C1-3B07-18DB-984F33DC1A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30501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AC87F08-7E48-9E83-F4AC-5585EC56E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e7cf68d7d_0_147:notes">
            <a:extLst>
              <a:ext uri="{FF2B5EF4-FFF2-40B4-BE49-F238E27FC236}">
                <a16:creationId xmlns:a16="http://schemas.microsoft.com/office/drawing/2014/main" id="{41C8667A-A9DF-22D3-131C-B2A0BBE661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e7cf68d7d_0_147:notes">
            <a:extLst>
              <a:ext uri="{FF2B5EF4-FFF2-40B4-BE49-F238E27FC236}">
                <a16:creationId xmlns:a16="http://schemas.microsoft.com/office/drawing/2014/main" id="{0CA016B0-186F-A788-AFB4-10102C91B1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025116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C6A5EE5-5C66-8D8C-6C6F-F900862F9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e7cf68d7d_0_147:notes">
            <a:extLst>
              <a:ext uri="{FF2B5EF4-FFF2-40B4-BE49-F238E27FC236}">
                <a16:creationId xmlns:a16="http://schemas.microsoft.com/office/drawing/2014/main" id="{63947D2F-520C-3546-C610-9D2B3F5D42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e7cf68d7d_0_147:notes">
            <a:extLst>
              <a:ext uri="{FF2B5EF4-FFF2-40B4-BE49-F238E27FC236}">
                <a16:creationId xmlns:a16="http://schemas.microsoft.com/office/drawing/2014/main" id="{D4AB7BC6-0109-B948-73D0-D1EA6B702D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0627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smtClean="0"/>
              <a:t>6/1/26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4445220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smtClean="0"/>
              <a:t>6/1/26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7566520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smtClean="0"/>
              <a:t>6/1/26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0685245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smtClean="0"/>
              <a:t>6/1/26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1651526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smtClean="0"/>
              <a:t>6/1/26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0931243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smtClean="0"/>
              <a:t>6/1/26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5335215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smtClean="0"/>
              <a:t>6/1/26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9202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smtClean="0"/>
              <a:t>6/1/26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4880526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6/1/26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3189703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smtClean="0"/>
              <a:t>6/1/26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6249774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E61D-D431-422C-9764-11DAFE33AB63}" type="datetimeFigureOut">
              <a:rPr lang="en-US" smtClean="0"/>
              <a:t>6/1/26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5637606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 slide 2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5409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smtClean="0"/>
              <a:t>6/1/26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29764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  <p:sldLayoutId id="2147483941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330943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413971"/>
            <a:ext cx="8249304" cy="34639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Google Shape;82;p28"/>
          <p:cNvSpPr txBox="1">
            <a:spLocks noGrp="1"/>
          </p:cNvSpPr>
          <p:nvPr>
            <p:ph type="ctrTitle" idx="4294967295"/>
          </p:nvPr>
        </p:nvSpPr>
        <p:spPr>
          <a:xfrm>
            <a:off x="1153114" y="556028"/>
            <a:ext cx="6837770" cy="316738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914400">
              <a:spcAft>
                <a:spcPts val="0"/>
              </a:spcAft>
            </a:pPr>
            <a:r>
              <a:rPr lang="en-US" sz="3600" b="1" dirty="0">
                <a:sym typeface="Inter ExtraBold"/>
              </a:rPr>
              <a:t>AI-Powered Logistics Operations Automation</a:t>
            </a:r>
            <a:br>
              <a:rPr lang="en-US" sz="1800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Inter ExtraBold"/>
              </a:rPr>
            </a:br>
            <a:r>
              <a:rPr lang="en-US" sz="1800" b="1" dirty="0"/>
              <a:t>Rate Confirmation Processing • UiPath • Document Understanding • AI Workflow Automation</a:t>
            </a:r>
            <a:br>
              <a:rPr lang="en-US" sz="2600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Inter ExtraBold"/>
              </a:rPr>
            </a:br>
            <a:endParaRPr lang="en-US" sz="2600" kern="1200" dirty="0">
              <a:solidFill>
                <a:schemeClr val="tx1"/>
              </a:solidFill>
              <a:latin typeface="+mj-lt"/>
              <a:ea typeface="+mj-ea"/>
              <a:cs typeface="+mj-cs"/>
              <a:sym typeface="Inter ExtraBold"/>
            </a:endParaRPr>
          </a:p>
          <a:p>
            <a:pPr marL="0" lvl="0" indent="0" defTabSz="914400"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sz="1200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Inter"/>
              </a:rPr>
              <a:t>Maryna Khlynina</a:t>
            </a:r>
            <a:endParaRPr lang="en-US" sz="1200" kern="1200" dirty="0">
              <a:solidFill>
                <a:schemeClr val="tx1"/>
              </a:solidFill>
              <a:latin typeface="+mj-lt"/>
              <a:ea typeface="+mj-ea"/>
              <a:cs typeface="+mj-cs"/>
              <a:sym typeface="Inter ExtraBold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4766031"/>
            <a:ext cx="8250174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/>
          <p:cNvSpPr txBox="1">
            <a:spLocks noGrp="1"/>
          </p:cNvSpPr>
          <p:nvPr>
            <p:ph type="ctrTitle" idx="4294967295"/>
          </p:nvPr>
        </p:nvSpPr>
        <p:spPr>
          <a:xfrm>
            <a:off x="521682" y="245975"/>
            <a:ext cx="2468654" cy="417988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 defTabSz="914400"/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Inter ExtraBold"/>
              </a:rPr>
              <a:t>Business Context</a:t>
            </a:r>
          </a:p>
        </p:txBody>
      </p:sp>
      <p:sp>
        <p:nvSpPr>
          <p:cNvPr id="90" name="Google Shape;90;p29"/>
          <p:cNvSpPr txBox="1">
            <a:spLocks noGrp="1"/>
          </p:cNvSpPr>
          <p:nvPr>
            <p:ph type="subTitle" idx="4294967295"/>
          </p:nvPr>
        </p:nvSpPr>
        <p:spPr>
          <a:xfrm>
            <a:off x="3095413" y="95250"/>
            <a:ext cx="5851781" cy="495300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Autofit/>
          </a:bodyPr>
          <a:lstStyle/>
          <a:p>
            <a:pPr marL="0" indent="0" algn="just">
              <a:buNone/>
            </a:pPr>
            <a:r>
              <a:rPr lang="en-US" sz="1300" dirty="0"/>
              <a:t>Carrier operations teams process large volumes of broker rate confirmations daily. These documents contain critical shipment, rate, pickup, delivery, and reporting information needed for operational tracking and profitability analysis.</a:t>
            </a:r>
          </a:p>
          <a:p>
            <a:pPr marL="0" indent="0" algn="just">
              <a:buNone/>
            </a:pPr>
            <a:r>
              <a:rPr lang="en-US" sz="1300" dirty="0"/>
              <a:t>Manual handling of rate confirmations creates repetitive workflow bottlenecks across document review, shipment data extraction, mileage lookup, spreadsheet reporting, and RPM calculations.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sz="1300" b="1" dirty="0"/>
              <a:t>Operational Challenges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en-US" sz="1300" dirty="0"/>
              <a:t>• Manual review of broker rate confirmation PDFs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en-US" sz="1300" dirty="0"/>
              <a:t>• Repetitive extraction of shipment details from inconsistent document formats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en-US" sz="1300" dirty="0"/>
              <a:t>• Separate mileage lookup process using external tools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en-US" sz="1300" dirty="0"/>
              <a:t>• Manual spreadsheet entry for reporting and RPM calculations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en-US" sz="1300" dirty="0"/>
              <a:t>• Limited visibility into shipment profitability and operational performance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en-US" sz="1300" dirty="0"/>
              <a:t>• Difficult to scale reporting workflows as document volume increases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sz="1300" b="1" dirty="0"/>
              <a:t>Business Impact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en-US" sz="1300" dirty="0"/>
              <a:t>• ~5 hours/week spent on repetitive document processing and reporting tasks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en-US" sz="1300" dirty="0"/>
              <a:t>• Increased risk of manual data entry errors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en-US" sz="1300" dirty="0"/>
              <a:t>• Delayed RPM and profitability reporting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en-US" sz="1300" dirty="0"/>
              <a:t>• Reduced operational visibility across shipment workflows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en-US" sz="1300" dirty="0"/>
              <a:t>• Limited scalability of manual carrier operations processes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D422A0D9-90F0-883C-D020-0E4CF330C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0">
            <a:extLst>
              <a:ext uri="{FF2B5EF4-FFF2-40B4-BE49-F238E27FC236}">
                <a16:creationId xmlns:a16="http://schemas.microsoft.com/office/drawing/2014/main" id="{FC835D40-958E-BAD8-C351-8EF484E3D848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99143" y="272633"/>
            <a:ext cx="2934177" cy="1323352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defTabSz="914400"/>
            <a:r>
              <a:rPr lang="en-US" sz="2800" b="1" dirty="0"/>
              <a:t>Manual Rate Confirmation Workflow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924A30-D7F3-1393-49D9-BE893247D6D9}"/>
              </a:ext>
            </a:extLst>
          </p:cNvPr>
          <p:cNvSpPr txBox="1"/>
          <p:nvPr/>
        </p:nvSpPr>
        <p:spPr>
          <a:xfrm>
            <a:off x="299143" y="1780651"/>
            <a:ext cx="2847681" cy="258587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/>
          <a:p>
            <a:pPr algn="just"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The original workflow required manual handling of each rate confirmation, including downloading documents, reviewing shipment details, calculating mileage separately, and entering data into a reporting spreadsheet.</a:t>
            </a:r>
          </a:p>
          <a:p>
            <a:pPr algn="just" defTabSz="914400">
              <a:lnSpc>
                <a:spcPct val="90000"/>
              </a:lnSpc>
              <a:spcAft>
                <a:spcPts val="600"/>
              </a:spcAft>
            </a:pPr>
            <a:endParaRPr lang="en-US" sz="1400" dirty="0"/>
          </a:p>
          <a:p>
            <a:pPr algn="just"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This created a repetitive, time-consuming process that slowed reporting and made operational performance analysis harder to scale.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A5BFC3-9203-AB2F-C0CF-56E9F7F41862}"/>
              </a:ext>
            </a:extLst>
          </p:cNvPr>
          <p:cNvSpPr txBox="1"/>
          <p:nvPr/>
        </p:nvSpPr>
        <p:spPr>
          <a:xfrm>
            <a:off x="403655" y="159598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15977-3FD5-02EF-36FF-24FCF3C692AC}"/>
              </a:ext>
            </a:extLst>
          </p:cNvPr>
          <p:cNvSpPr txBox="1"/>
          <p:nvPr/>
        </p:nvSpPr>
        <p:spPr>
          <a:xfrm>
            <a:off x="32951" y="13015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928B82-9426-F20B-D358-CFA0DA7B5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277" y="1059271"/>
            <a:ext cx="5525041" cy="3024958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1028216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CB963FC6-E06D-3D37-EDD6-FFEE20A4C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>
            <a:extLst>
              <a:ext uri="{FF2B5EF4-FFF2-40B4-BE49-F238E27FC236}">
                <a16:creationId xmlns:a16="http://schemas.microsoft.com/office/drawing/2014/main" id="{9F85B5F3-BBB4-D8B1-2BA1-22F88AC10CC0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395416" y="362465"/>
            <a:ext cx="3053541" cy="410458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r>
              <a:rPr lang="en-US" sz="4400" b="1" dirty="0"/>
              <a:t>Automation Solution</a:t>
            </a:r>
          </a:p>
        </p:txBody>
      </p:sp>
      <p:sp>
        <p:nvSpPr>
          <p:cNvPr id="90" name="Google Shape;90;p29">
            <a:extLst>
              <a:ext uri="{FF2B5EF4-FFF2-40B4-BE49-F238E27FC236}">
                <a16:creationId xmlns:a16="http://schemas.microsoft.com/office/drawing/2014/main" id="{1BE9AC2E-94BF-C396-BD07-32489189710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594702" y="134197"/>
            <a:ext cx="5258657" cy="4875106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 lnSpcReduction="10000"/>
          </a:bodyPr>
          <a:lstStyle/>
          <a:p>
            <a:pPr marL="0" indent="0" algn="just">
              <a:buNone/>
            </a:pPr>
            <a:r>
              <a:rPr lang="en-US" sz="1400" dirty="0"/>
              <a:t>An AI-powered logistics operations workflow was developed in UiPath to streamline rate confirmation processing through automated document extraction, mileage enrichment, validation workflows, and structured operational reporting.</a:t>
            </a:r>
          </a:p>
          <a:p>
            <a:pPr marL="0" indent="0" algn="just">
              <a:buNone/>
            </a:pPr>
            <a:r>
              <a:rPr lang="en-US" sz="1400" dirty="0"/>
              <a:t>The solution transforms unstructured shipment documents into structured operational data, improving reporting efficiency, workflow scalability, and operational visibility across carrier operations.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sz="1400" b="1" dirty="0"/>
              <a:t>Core Capabilities: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en-US" sz="1400" dirty="0"/>
              <a:t>• Automatically retrieves rate confirmations from operational email workflows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en-US" sz="1400" dirty="0"/>
              <a:t>• Stores and organizes documents in Google Drive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en-US" sz="1400" dirty="0"/>
              <a:t>• Extracts shipment data from unstructured PDF documents using Document Understanding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en-US" sz="1400" dirty="0"/>
              <a:t>• Calculates mileage using AI-based enrichment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en-US" sz="1400" dirty="0"/>
              <a:t>• Writes structured reporting outputs into Google Sheets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en-US" sz="1400" dirty="0"/>
              <a:t>• Flags incomplete or missing data for manual review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en-US" sz="1400" dirty="0"/>
              <a:t>• Sends automated validation alerts when issues are detected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en-US" sz="1400" dirty="0"/>
              <a:t>• Improves reporting visibility and reduces repetitive manual processing</a:t>
            </a:r>
          </a:p>
        </p:txBody>
      </p:sp>
    </p:spTree>
    <p:extLst>
      <p:ext uri="{BB962C8B-B14F-4D97-AF65-F5344CB8AC3E}">
        <p14:creationId xmlns:p14="http://schemas.microsoft.com/office/powerpoint/2010/main" val="3596739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1" name="Rectangle 110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Google Shape;96;p30"/>
          <p:cNvSpPr txBox="1">
            <a:spLocks noGrp="1"/>
          </p:cNvSpPr>
          <p:nvPr>
            <p:ph type="ctrTitle" idx="4294967295"/>
          </p:nvPr>
        </p:nvSpPr>
        <p:spPr>
          <a:xfrm>
            <a:off x="933451" y="171612"/>
            <a:ext cx="3512099" cy="1814022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 defTabSz="914400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Inter ExtraBold"/>
              </a:rPr>
              <a:t>Automation Workflow Architecture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CF21E7-5C24-D562-830E-E82E595BC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126" y="46401"/>
            <a:ext cx="3110423" cy="50506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A834F0-7B48-FE7F-F4ED-3B2C68CE6EAE}"/>
              </a:ext>
            </a:extLst>
          </p:cNvPr>
          <p:cNvSpPr txBox="1"/>
          <p:nvPr/>
        </p:nvSpPr>
        <p:spPr>
          <a:xfrm>
            <a:off x="933451" y="2159693"/>
            <a:ext cx="364118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This workflow automates the end-to-end processing of logistics rate confirmations, from email intake and document extraction to mileage calculation, validation, and structured reporting.</a:t>
            </a:r>
          </a:p>
          <a:p>
            <a:pPr algn="just"/>
            <a:endParaRPr lang="en-US" sz="1400" dirty="0"/>
          </a:p>
          <a:p>
            <a:pPr algn="just"/>
            <a:r>
              <a:rPr lang="en-US" sz="1400" dirty="0"/>
              <a:t>The automation connects multiple operational steps into a single workflow, reducing repetitive manual processing and improving reporting efficiency.</a:t>
            </a:r>
          </a:p>
          <a:p>
            <a:pPr algn="just"/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D2720D8C-FC18-48A5-D3A6-44F8818CB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>
            <a:extLst>
              <a:ext uri="{FF2B5EF4-FFF2-40B4-BE49-F238E27FC236}">
                <a16:creationId xmlns:a16="http://schemas.microsoft.com/office/drawing/2014/main" id="{985279AE-59C1-9C07-009A-3891938C3B45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395416" y="362465"/>
            <a:ext cx="3199286" cy="410458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r>
              <a:rPr lang="en-US" sz="4000" b="1" dirty="0"/>
              <a:t>Automation Architecture Components</a:t>
            </a:r>
          </a:p>
        </p:txBody>
      </p:sp>
      <p:sp>
        <p:nvSpPr>
          <p:cNvPr id="90" name="Google Shape;90;p29">
            <a:extLst>
              <a:ext uri="{FF2B5EF4-FFF2-40B4-BE49-F238E27FC236}">
                <a16:creationId xmlns:a16="http://schemas.microsoft.com/office/drawing/2014/main" id="{3828615A-A287-D7A6-B599-954B622F572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594702" y="134197"/>
            <a:ext cx="5258657" cy="4875106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indent="0" defTabSz="914400">
              <a:lnSpc>
                <a:spcPct val="80000"/>
              </a:lnSpc>
              <a:spcAft>
                <a:spcPts val="600"/>
              </a:spcAft>
              <a:buNone/>
            </a:pPr>
            <a:r>
              <a:rPr lang="en-US" sz="1400" dirty="0"/>
              <a:t>The automation was implemented in UiPath by combining multiple components, including email integration, file handling, document understanding, AI-based enrichment, and validation logic.</a:t>
            </a:r>
            <a:endParaRPr lang="en-US" sz="1400" b="1" dirty="0"/>
          </a:p>
          <a:p>
            <a:pPr marL="0" indent="0" defTabSz="914400">
              <a:lnSpc>
                <a:spcPct val="80000"/>
              </a:lnSpc>
              <a:spcBef>
                <a:spcPts val="1200"/>
              </a:spcBef>
              <a:buNone/>
            </a:pPr>
            <a:r>
              <a:rPr lang="en-US" sz="1400" b="1" dirty="0"/>
              <a:t>Key Components:</a:t>
            </a:r>
          </a:p>
          <a:p>
            <a:pPr marL="0" indent="0" defTabSz="914400">
              <a:lnSpc>
                <a:spcPct val="80000"/>
              </a:lnSpc>
              <a:spcBef>
                <a:spcPts val="600"/>
              </a:spcBef>
            </a:pPr>
            <a:r>
              <a:rPr lang="en-US" sz="1400" dirty="0"/>
              <a:t> Email integration to retrieve rate confirmations </a:t>
            </a:r>
          </a:p>
          <a:p>
            <a:pPr marL="0" indent="0" defTabSz="914400">
              <a:lnSpc>
                <a:spcPct val="80000"/>
              </a:lnSpc>
              <a:spcBef>
                <a:spcPts val="600"/>
              </a:spcBef>
            </a:pPr>
            <a:r>
              <a:rPr lang="en-US" sz="1400" dirty="0"/>
              <a:t> Google Drive integration for document storage and organization</a:t>
            </a:r>
          </a:p>
          <a:p>
            <a:pPr marL="0" indent="0" defTabSz="914400">
              <a:lnSpc>
                <a:spcPct val="80000"/>
              </a:lnSpc>
              <a:spcBef>
                <a:spcPts val="600"/>
              </a:spcBef>
            </a:pPr>
            <a:r>
              <a:rPr lang="en-US" sz="1400" dirty="0"/>
              <a:t> Document Understanding pipeline for data extraction </a:t>
            </a:r>
          </a:p>
          <a:p>
            <a:pPr marL="0" indent="0" defTabSz="914400">
              <a:lnSpc>
                <a:spcPct val="80000"/>
              </a:lnSpc>
              <a:spcBef>
                <a:spcPts val="600"/>
              </a:spcBef>
            </a:pPr>
            <a:r>
              <a:rPr lang="en-US" sz="1400" dirty="0"/>
              <a:t> AI integration for mileage calculation </a:t>
            </a:r>
          </a:p>
          <a:p>
            <a:pPr marL="0" indent="0" defTabSz="914400">
              <a:lnSpc>
                <a:spcPct val="80000"/>
              </a:lnSpc>
              <a:spcBef>
                <a:spcPts val="600"/>
              </a:spcBef>
            </a:pPr>
            <a:r>
              <a:rPr lang="en-US" sz="1400" dirty="0"/>
              <a:t> Validation logic for data quality control </a:t>
            </a:r>
          </a:p>
          <a:p>
            <a:pPr marL="0" indent="0" defTabSz="914400">
              <a:lnSpc>
                <a:spcPct val="80000"/>
              </a:lnSpc>
              <a:spcBef>
                <a:spcPts val="600"/>
              </a:spcBef>
            </a:pPr>
            <a:r>
              <a:rPr lang="en-US" sz="1400" dirty="0"/>
              <a:t> Google Sheets integration for structured reporting output</a:t>
            </a:r>
          </a:p>
        </p:txBody>
      </p:sp>
    </p:spTree>
    <p:extLst>
      <p:ext uri="{BB962C8B-B14F-4D97-AF65-F5344CB8AC3E}">
        <p14:creationId xmlns:p14="http://schemas.microsoft.com/office/powerpoint/2010/main" val="2801795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15659691-73E2-3530-22BA-079526664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0">
            <a:extLst>
              <a:ext uri="{FF2B5EF4-FFF2-40B4-BE49-F238E27FC236}">
                <a16:creationId xmlns:a16="http://schemas.microsoft.com/office/drawing/2014/main" id="{A6598051-C06B-3FC4-7E42-5F13FCBCDA49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640801" y="457200"/>
            <a:ext cx="3512099" cy="1438275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 fontScale="90000"/>
          </a:bodyPr>
          <a:lstStyle/>
          <a:p>
            <a:pPr lvl="0" defTabSz="914400"/>
            <a:r>
              <a:rPr lang="en-US" sz="3600" b="1" dirty="0"/>
              <a:t>Document Understanding &amp; Custom Extractor</a:t>
            </a:r>
            <a:endParaRPr 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  <a:sym typeface="Inter ExtraBol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D4FC64-892F-ED88-5412-FBA667F11D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382"/>
          <a:stretch>
            <a:fillRect/>
          </a:stretch>
        </p:blipFill>
        <p:spPr>
          <a:xfrm>
            <a:off x="4797239" y="145905"/>
            <a:ext cx="3512099" cy="2425845"/>
          </a:xfrm>
          <a:prstGeom prst="rect">
            <a:avLst/>
          </a:prstGeom>
          <a:ln w="12700"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3893A7-95F4-3A40-F483-CD657B75AA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1477" y="2597437"/>
            <a:ext cx="3546641" cy="2420582"/>
          </a:xfrm>
          <a:prstGeom prst="rect">
            <a:avLst/>
          </a:prstGeom>
          <a:ln w="12700">
            <a:noFill/>
          </a:ln>
        </p:spPr>
      </p:pic>
      <p:sp>
        <p:nvSpPr>
          <p:cNvPr id="8" name="Google Shape;90;p29">
            <a:extLst>
              <a:ext uri="{FF2B5EF4-FFF2-40B4-BE49-F238E27FC236}">
                <a16:creationId xmlns:a16="http://schemas.microsoft.com/office/drawing/2014/main" id="{96B3C7FB-A795-6A09-B63A-F290929EAA9E}"/>
              </a:ext>
            </a:extLst>
          </p:cNvPr>
          <p:cNvSpPr txBox="1">
            <a:spLocks/>
          </p:cNvSpPr>
          <p:nvPr/>
        </p:nvSpPr>
        <p:spPr>
          <a:xfrm>
            <a:off x="640801" y="2081213"/>
            <a:ext cx="3705962" cy="2333626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400" dirty="0"/>
              <a:t>A custom generative extractor was configured to extract shipment data from broker rate confirmations, which often vary in structure and formatting.</a:t>
            </a:r>
          </a:p>
          <a:p>
            <a:pPr marL="0" indent="0" algn="just">
              <a:buNone/>
            </a:pPr>
            <a:r>
              <a:rPr lang="en-US" sz="1400" dirty="0"/>
              <a:t>The workflow was designed to process unstructured logistics documents and convert them into structured operational data for reporting and analysis.</a:t>
            </a:r>
          </a:p>
          <a:p>
            <a:pPr marL="0" indent="0" algn="just" defTabSz="914400">
              <a:lnSpc>
                <a:spcPct val="80000"/>
              </a:lnSpc>
              <a:spcBef>
                <a:spcPts val="600"/>
              </a:spcBef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99311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6783C669-B4E6-FD2D-C59F-E5938F4A6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0">
            <a:extLst>
              <a:ext uri="{FF2B5EF4-FFF2-40B4-BE49-F238E27FC236}">
                <a16:creationId xmlns:a16="http://schemas.microsoft.com/office/drawing/2014/main" id="{7D6DCEF6-620C-B3CE-E04D-B4A1FA83C049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291950" y="335031"/>
            <a:ext cx="6560099" cy="1438275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lvl="0" defTabSz="914400"/>
            <a:r>
              <a:rPr lang="en-US" sz="3600" b="1" dirty="0"/>
              <a:t>AI-Powered Mileage Calculation</a:t>
            </a:r>
            <a:endParaRPr 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  <a:sym typeface="Inter ExtraBold"/>
            </a:endParaRPr>
          </a:p>
        </p:txBody>
      </p:sp>
      <p:sp>
        <p:nvSpPr>
          <p:cNvPr id="2" name="Google Shape;90;p29">
            <a:extLst>
              <a:ext uri="{FF2B5EF4-FFF2-40B4-BE49-F238E27FC236}">
                <a16:creationId xmlns:a16="http://schemas.microsoft.com/office/drawing/2014/main" id="{0159AF06-5395-9417-1B09-19B3C90B1615}"/>
              </a:ext>
            </a:extLst>
          </p:cNvPr>
          <p:cNvSpPr txBox="1">
            <a:spLocks/>
          </p:cNvSpPr>
          <p:nvPr/>
        </p:nvSpPr>
        <p:spPr>
          <a:xfrm>
            <a:off x="707476" y="1096203"/>
            <a:ext cx="3512100" cy="3894898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LLM-based mileage estimation was implemented as a lightweight AI enrichment approach during initial workflow prototyping.</a:t>
            </a:r>
          </a:p>
          <a:p>
            <a:pPr marL="0" indent="0">
              <a:lnSpc>
                <a:spcPct val="80000"/>
              </a:lnSpc>
              <a:spcBef>
                <a:spcPts val="1200"/>
              </a:spcBef>
              <a:buNone/>
            </a:pPr>
            <a:r>
              <a:rPr lang="en-US" sz="1400" b="1" dirty="0"/>
              <a:t>Key Points:</a:t>
            </a:r>
            <a:endParaRPr lang="en-US" sz="1400" dirty="0"/>
          </a:p>
          <a:p>
            <a:pPr marL="0" indent="0">
              <a:lnSpc>
                <a:spcPct val="80000"/>
              </a:lnSpc>
              <a:spcBef>
                <a:spcPts val="600"/>
              </a:spcBef>
            </a:pPr>
            <a:r>
              <a:rPr lang="en-US" sz="1400" dirty="0"/>
              <a:t> Uses pickup and delivery locations extracted from documents </a:t>
            </a:r>
          </a:p>
          <a:p>
            <a:pPr marL="0" indent="0">
              <a:lnSpc>
                <a:spcPct val="80000"/>
              </a:lnSpc>
              <a:spcBef>
                <a:spcPts val="600"/>
              </a:spcBef>
            </a:pPr>
            <a:r>
              <a:rPr lang="en-US" sz="1400" dirty="0"/>
              <a:t> Sends structured prompt to LLM </a:t>
            </a:r>
          </a:p>
          <a:p>
            <a:pPr marL="0" indent="0">
              <a:lnSpc>
                <a:spcPct val="80000"/>
              </a:lnSpc>
              <a:spcBef>
                <a:spcPts val="600"/>
              </a:spcBef>
            </a:pPr>
            <a:r>
              <a:rPr lang="en-US" sz="1400" dirty="0"/>
              <a:t> Returns estimated mileage for each trip </a:t>
            </a:r>
          </a:p>
          <a:p>
            <a:pPr marL="0" indent="0">
              <a:lnSpc>
                <a:spcPct val="80000"/>
              </a:lnSpc>
              <a:spcBef>
                <a:spcPts val="600"/>
              </a:spcBef>
            </a:pPr>
            <a:r>
              <a:rPr lang="en-US" sz="1400" dirty="0"/>
              <a:t> Eliminates manual lookup in tools like Google Maps </a:t>
            </a:r>
          </a:p>
          <a:p>
            <a:pPr marL="0" indent="0">
              <a:lnSpc>
                <a:spcPct val="80000"/>
              </a:lnSpc>
              <a:spcBef>
                <a:spcPts val="600"/>
              </a:spcBef>
            </a:pPr>
            <a:r>
              <a:rPr lang="en-US" sz="1400" dirty="0"/>
              <a:t> Ensures consistent and fast calculation</a:t>
            </a:r>
          </a:p>
          <a:p>
            <a:pPr marL="0" indent="0">
              <a:buNone/>
            </a:pPr>
            <a:r>
              <a:rPr lang="en-US" sz="1400" dirty="0"/>
              <a:t>The workflow automatically calculates mileage without manual lookup, helping simplify reporting and reduce repetitive operational tasks.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050DAC-6AA4-B540-908F-97F0AECF6F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553"/>
          <a:stretch>
            <a:fillRect/>
          </a:stretch>
        </p:blipFill>
        <p:spPr>
          <a:xfrm>
            <a:off x="4219576" y="1280981"/>
            <a:ext cx="4584494" cy="3095888"/>
          </a:xfrm>
          <a:prstGeom prst="rect">
            <a:avLst/>
          </a:prstGeom>
          <a:ln w="12700">
            <a:noFill/>
          </a:ln>
        </p:spPr>
      </p:pic>
    </p:spTree>
    <p:extLst>
      <p:ext uri="{BB962C8B-B14F-4D97-AF65-F5344CB8AC3E}">
        <p14:creationId xmlns:p14="http://schemas.microsoft.com/office/powerpoint/2010/main" val="2920529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FEC97782-ADBF-9E6D-6F6E-9CA5E32C8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0">
            <a:extLst>
              <a:ext uri="{FF2B5EF4-FFF2-40B4-BE49-F238E27FC236}">
                <a16:creationId xmlns:a16="http://schemas.microsoft.com/office/drawing/2014/main" id="{57015A72-3123-E866-D2B5-FE8166A5790C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371475" y="131481"/>
            <a:ext cx="6560099" cy="1438275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lvl="0" defTabSz="914400"/>
            <a:r>
              <a:rPr lang="en-US" sz="3600" b="1" dirty="0"/>
              <a:t>Data Mapping &amp;</a:t>
            </a:r>
            <a:br>
              <a:rPr lang="en-US" sz="3600" b="1" dirty="0"/>
            </a:br>
            <a:r>
              <a:rPr lang="en-US" sz="3600" b="1" dirty="0"/>
              <a:t>Debugging</a:t>
            </a:r>
            <a:endParaRPr 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  <a:sym typeface="Inter ExtraBold"/>
            </a:endParaRPr>
          </a:p>
        </p:txBody>
      </p:sp>
      <p:sp>
        <p:nvSpPr>
          <p:cNvPr id="2" name="Google Shape;90;p29">
            <a:extLst>
              <a:ext uri="{FF2B5EF4-FFF2-40B4-BE49-F238E27FC236}">
                <a16:creationId xmlns:a16="http://schemas.microsoft.com/office/drawing/2014/main" id="{FFF97980-A2BC-AC91-1092-7FE43257BBD0}"/>
              </a:ext>
            </a:extLst>
          </p:cNvPr>
          <p:cNvSpPr txBox="1">
            <a:spLocks/>
          </p:cNvSpPr>
          <p:nvPr/>
        </p:nvSpPr>
        <p:spPr>
          <a:xfrm>
            <a:off x="410489" y="1117121"/>
            <a:ext cx="4161511" cy="3894898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dirty="0"/>
              <a:t>Extracted shipment data is mapped into a structured output format, with logging used to validate extracted values and support debugging during workflow development.</a:t>
            </a:r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dirty="0"/>
              <a:t>The workflow helps improve reporting consistency and makes troubleshooting easier when processing different document formats.</a:t>
            </a:r>
          </a:p>
          <a:p>
            <a:pPr marL="0" indent="0" algn="just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400" b="1" dirty="0"/>
              <a:t>Key Points:</a:t>
            </a:r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dirty="0"/>
              <a:t>• Extracted fields are mapped into structured output columns in Google Sheets</a:t>
            </a:r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dirty="0"/>
              <a:t>• Log messages are used to validate extracted values before writing output</a:t>
            </a:r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dirty="0"/>
              <a:t>• Helps identify missing or incorrect data during workflow testing</a:t>
            </a:r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dirty="0"/>
              <a:t>• Simplifies debugging and improves workflow reliability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0AE684-5519-98C1-284C-657C7D092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1481"/>
            <a:ext cx="4161511" cy="1622988"/>
          </a:xfrm>
          <a:prstGeom prst="rect">
            <a:avLst/>
          </a:prstGeom>
          <a:ln w="12700"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9AB66B-9944-89F0-F8BA-237680775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222454" y="1854350"/>
            <a:ext cx="2988096" cy="3206162"/>
          </a:xfrm>
          <a:prstGeom prst="rect">
            <a:avLst/>
          </a:prstGeom>
          <a:ln w="12700">
            <a:noFill/>
          </a:ln>
        </p:spPr>
      </p:pic>
    </p:spTree>
    <p:extLst>
      <p:ext uri="{BB962C8B-B14F-4D97-AF65-F5344CB8AC3E}">
        <p14:creationId xmlns:p14="http://schemas.microsoft.com/office/powerpoint/2010/main" val="3915148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DEABDB19-49C8-41DE-5338-9FDC2B88E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0">
            <a:extLst>
              <a:ext uri="{FF2B5EF4-FFF2-40B4-BE49-F238E27FC236}">
                <a16:creationId xmlns:a16="http://schemas.microsoft.com/office/drawing/2014/main" id="{76E2FBE0-427C-E60D-FBC8-4FD7C3FB6BDF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480854" y="236058"/>
            <a:ext cx="3486150" cy="1438275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lvl="0" defTabSz="914400"/>
            <a:r>
              <a:rPr lang="en-US" sz="3600" b="1" dirty="0"/>
              <a:t>Validation Logic</a:t>
            </a:r>
            <a:endParaRPr 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  <a:sym typeface="Inter ExtraBold"/>
            </a:endParaRPr>
          </a:p>
        </p:txBody>
      </p:sp>
      <p:sp>
        <p:nvSpPr>
          <p:cNvPr id="2" name="Google Shape;90;p29">
            <a:extLst>
              <a:ext uri="{FF2B5EF4-FFF2-40B4-BE49-F238E27FC236}">
                <a16:creationId xmlns:a16="http://schemas.microsoft.com/office/drawing/2014/main" id="{1D1D1CE1-E74B-C618-0972-3E0D2F8DAFBC}"/>
              </a:ext>
            </a:extLst>
          </p:cNvPr>
          <p:cNvSpPr txBox="1">
            <a:spLocks/>
          </p:cNvSpPr>
          <p:nvPr/>
        </p:nvSpPr>
        <p:spPr>
          <a:xfrm>
            <a:off x="410489" y="888521"/>
            <a:ext cx="4161511" cy="3894898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Validation logic is used to identify incomplete or low-confidence data before it is written into the final reporting output.</a:t>
            </a:r>
          </a:p>
          <a:p>
            <a:pPr marL="0" indent="0">
              <a:buNone/>
            </a:pPr>
            <a:r>
              <a:rPr lang="en-US" sz="1400" dirty="0"/>
              <a:t>The workflow automatically flags potential issues and sends notifications for manual review when needed.</a:t>
            </a:r>
          </a:p>
          <a:p>
            <a:pPr marL="0" indent="0" algn="just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400" b="1" dirty="0"/>
              <a:t>Key Points: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• Identifies missing or incomplete extracted fields</a:t>
            </a:r>
          </a:p>
          <a:p>
            <a:pPr marL="0" indent="0">
              <a:buNone/>
            </a:pPr>
            <a:r>
              <a:rPr lang="en-US" sz="1400" dirty="0"/>
              <a:t>• Flags low-confidence or suspicious data based on validation rules</a:t>
            </a:r>
          </a:p>
          <a:p>
            <a:pPr marL="0" indent="0">
              <a:buNone/>
            </a:pPr>
            <a:r>
              <a:rPr lang="en-US" sz="1400" dirty="0"/>
              <a:t>• Sends email notifications for manual review</a:t>
            </a:r>
          </a:p>
          <a:p>
            <a:pPr marL="0" indent="0">
              <a:buNone/>
            </a:pPr>
            <a:r>
              <a:rPr lang="en-US" sz="1400" dirty="0"/>
              <a:t>• Prevents incorrect or incomplete data from entering the reporting workflow</a:t>
            </a:r>
          </a:p>
          <a:p>
            <a:pPr marL="0" indent="0">
              <a:buNone/>
            </a:pPr>
            <a:r>
              <a:rPr lang="en-US" sz="1400" dirty="0"/>
              <a:t>• Uses logging and validation checks to improve workflow reliability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AE9E6E-4CAE-B9D4-1009-28E5DCF30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76997" y="84852"/>
            <a:ext cx="2776378" cy="2486898"/>
          </a:xfrm>
          <a:prstGeom prst="rect">
            <a:avLst/>
          </a:prstGeom>
          <a:ln w="12700"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F69BF2-4B91-8822-29D1-0B2064D27D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0204"/>
          <a:stretch>
            <a:fillRect/>
          </a:stretch>
        </p:blipFill>
        <p:spPr>
          <a:xfrm>
            <a:off x="4870420" y="2600528"/>
            <a:ext cx="3465191" cy="2481503"/>
          </a:xfrm>
          <a:prstGeom prst="rect">
            <a:avLst/>
          </a:prstGeom>
          <a:ln w="12700">
            <a:noFill/>
          </a:ln>
        </p:spPr>
      </p:pic>
    </p:spTree>
    <p:extLst>
      <p:ext uri="{BB962C8B-B14F-4D97-AF65-F5344CB8AC3E}">
        <p14:creationId xmlns:p14="http://schemas.microsoft.com/office/powerpoint/2010/main" val="933084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4477C313-33DE-68A2-3C3B-C28353DCF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0">
            <a:extLst>
              <a:ext uri="{FF2B5EF4-FFF2-40B4-BE49-F238E27FC236}">
                <a16:creationId xmlns:a16="http://schemas.microsoft.com/office/drawing/2014/main" id="{105E8BD2-FDD7-7664-6C65-9314179CD421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371475" y="217008"/>
            <a:ext cx="3633946" cy="1438275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 fontScale="90000"/>
          </a:bodyPr>
          <a:lstStyle/>
          <a:p>
            <a:pPr lvl="0" defTabSz="914400"/>
            <a:r>
              <a:rPr lang="en-US" sz="3600" b="1" dirty="0"/>
              <a:t>Workflow Monitoring &amp; Alerts</a:t>
            </a:r>
            <a:endParaRPr 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  <a:sym typeface="Inter ExtraBold"/>
            </a:endParaRPr>
          </a:p>
        </p:txBody>
      </p:sp>
      <p:sp>
        <p:nvSpPr>
          <p:cNvPr id="2" name="Google Shape;90;p29">
            <a:extLst>
              <a:ext uri="{FF2B5EF4-FFF2-40B4-BE49-F238E27FC236}">
                <a16:creationId xmlns:a16="http://schemas.microsoft.com/office/drawing/2014/main" id="{B1721C5F-08C7-911B-4CBB-1039ED2D2434}"/>
              </a:ext>
            </a:extLst>
          </p:cNvPr>
          <p:cNvSpPr txBox="1">
            <a:spLocks/>
          </p:cNvSpPr>
          <p:nvPr/>
        </p:nvSpPr>
        <p:spPr>
          <a:xfrm>
            <a:off x="371475" y="1247775"/>
            <a:ext cx="4343400" cy="4029075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600"/>
              </a:spcBef>
              <a:buNone/>
            </a:pPr>
            <a:r>
              <a:rPr lang="en-US" sz="1400" dirty="0"/>
              <a:t>Workflow logs and automated notifications provide visibility into processing results and help identify records that require manual review.</a:t>
            </a:r>
          </a:p>
          <a:p>
            <a:pPr marL="0" indent="0">
              <a:lnSpc>
                <a:spcPct val="80000"/>
              </a:lnSpc>
              <a:spcBef>
                <a:spcPts val="600"/>
              </a:spcBef>
              <a:buNone/>
            </a:pPr>
            <a:r>
              <a:rPr lang="en-US" sz="1400" dirty="0"/>
              <a:t>The monitoring flow highlights incomplete or low-confidence extractions, allowing issues to be reviewed before final reporting output is generated.</a:t>
            </a:r>
          </a:p>
          <a:p>
            <a:pPr marL="0" indent="0">
              <a:lnSpc>
                <a:spcPct val="80000"/>
              </a:lnSpc>
              <a:spcBef>
                <a:spcPts val="1200"/>
              </a:spcBef>
              <a:buNone/>
            </a:pPr>
            <a:r>
              <a:rPr lang="en-US" sz="1400" b="1" dirty="0"/>
              <a:t>Key Points:</a:t>
            </a:r>
          </a:p>
          <a:p>
            <a:pPr marL="0" indent="0">
              <a:lnSpc>
                <a:spcPct val="80000"/>
              </a:lnSpc>
              <a:spcBef>
                <a:spcPts val="600"/>
              </a:spcBef>
              <a:buNone/>
            </a:pPr>
            <a:r>
              <a:rPr lang="en-US" sz="1400" dirty="0"/>
              <a:t>• Workflow logs display extracted shipment data and validation results</a:t>
            </a:r>
          </a:p>
          <a:p>
            <a:pPr marL="0" indent="0">
              <a:lnSpc>
                <a:spcPct val="80000"/>
              </a:lnSpc>
              <a:spcBef>
                <a:spcPts val="600"/>
              </a:spcBef>
              <a:buNone/>
            </a:pPr>
            <a:r>
              <a:rPr lang="en-US" sz="1400" dirty="0"/>
              <a:t>• Low-confidence records are automatically flagged for review</a:t>
            </a:r>
          </a:p>
          <a:p>
            <a:pPr marL="0" indent="0">
              <a:lnSpc>
                <a:spcPct val="80000"/>
              </a:lnSpc>
              <a:spcBef>
                <a:spcPts val="600"/>
              </a:spcBef>
              <a:buNone/>
            </a:pPr>
            <a:r>
              <a:rPr lang="en-US" sz="1400" dirty="0"/>
              <a:t>• Email notifications are triggered when potential issues are detected</a:t>
            </a:r>
          </a:p>
          <a:p>
            <a:pPr marL="0" indent="0">
              <a:lnSpc>
                <a:spcPct val="80000"/>
              </a:lnSpc>
              <a:spcBef>
                <a:spcPts val="600"/>
              </a:spcBef>
              <a:buNone/>
            </a:pPr>
            <a:r>
              <a:rPr lang="en-US" sz="1400" dirty="0"/>
              <a:t>• Monitoring output improves visibility into workflow processing</a:t>
            </a:r>
          </a:p>
          <a:p>
            <a:pPr marL="0" indent="0">
              <a:lnSpc>
                <a:spcPct val="80000"/>
              </a:lnSpc>
              <a:spcBef>
                <a:spcPts val="600"/>
              </a:spcBef>
              <a:buNone/>
            </a:pPr>
            <a:r>
              <a:rPr lang="en-US" sz="1400" dirty="0"/>
              <a:t>• Helps identify extraction issues before data is written into reports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0C9B8A-E449-62EC-CAE7-8FDD5B424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965" y="454478"/>
            <a:ext cx="2065435" cy="2606228"/>
          </a:xfrm>
          <a:prstGeom prst="rect">
            <a:avLst/>
          </a:prstGeom>
          <a:ln w="12700"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64D256-C659-4BDE-593D-ECAB3DDF56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72000" y="3060706"/>
            <a:ext cx="4505325" cy="1670038"/>
          </a:xfrm>
          <a:prstGeom prst="rect">
            <a:avLst/>
          </a:prstGeom>
          <a:ln w="12700">
            <a:noFill/>
          </a:ln>
        </p:spPr>
      </p:pic>
    </p:spTree>
    <p:extLst>
      <p:ext uri="{BB962C8B-B14F-4D97-AF65-F5344CB8AC3E}">
        <p14:creationId xmlns:p14="http://schemas.microsoft.com/office/powerpoint/2010/main" val="1085546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AF26EBED-0393-C1B7-C30C-4E0CABB32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0">
            <a:extLst>
              <a:ext uri="{FF2B5EF4-FFF2-40B4-BE49-F238E27FC236}">
                <a16:creationId xmlns:a16="http://schemas.microsoft.com/office/drawing/2014/main" id="{6C8017E3-5D76-25C5-AD20-CF29EE3BAECC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797271" y="123274"/>
            <a:ext cx="6203729" cy="112941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 defTabSz="914400"/>
            <a:r>
              <a:rPr lang="en-US" sz="3900" b="1" dirty="0">
                <a:sym typeface="Inter ExtraBold"/>
              </a:rPr>
              <a:t>Structured Reporting Output</a:t>
            </a:r>
            <a:endParaRPr lang="en-US" sz="3900" b="1" kern="1200" dirty="0">
              <a:solidFill>
                <a:schemeClr val="tx1"/>
              </a:solidFill>
              <a:latin typeface="+mj-lt"/>
              <a:ea typeface="+mj-ea"/>
              <a:cs typeface="+mj-cs"/>
              <a:sym typeface="Inter Extra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E07EC4-7ECF-6854-8FD6-3554FE8896F1}"/>
              </a:ext>
            </a:extLst>
          </p:cNvPr>
          <p:cNvSpPr txBox="1"/>
          <p:nvPr/>
        </p:nvSpPr>
        <p:spPr>
          <a:xfrm>
            <a:off x="223035" y="3551898"/>
            <a:ext cx="869793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Processed shipment data is organized into a structured spreadsheet format, making it easier to review shipment information, identify missing values, and support reporting workflows.</a:t>
            </a:r>
          </a:p>
          <a:p>
            <a:pPr algn="just"/>
            <a:endParaRPr lang="en-US" sz="1400" dirty="0"/>
          </a:p>
          <a:p>
            <a:pPr algn="just"/>
            <a:r>
              <a:rPr lang="en-US" sz="1400" dirty="0"/>
              <a:t>With mileage already calculated, RPM can be generated automatically across all records, reducing manual calculations and improving reporting efficiency.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157043-F513-2C08-A016-26A607B9E5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003" y="1252687"/>
            <a:ext cx="8999994" cy="1980481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3434380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C0CD94AC-57F6-C79E-ED5B-8F9375E3B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>
            <a:extLst>
              <a:ext uri="{FF2B5EF4-FFF2-40B4-BE49-F238E27FC236}">
                <a16:creationId xmlns:a16="http://schemas.microsoft.com/office/drawing/2014/main" id="{F81421A2-41A3-2129-0996-C8A4A198AEDE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14516" y="419615"/>
            <a:ext cx="3199286" cy="410458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r>
              <a:rPr lang="en-US" sz="4000" b="1" dirty="0"/>
              <a:t>Key Outcomes</a:t>
            </a:r>
          </a:p>
        </p:txBody>
      </p:sp>
      <p:sp>
        <p:nvSpPr>
          <p:cNvPr id="90" name="Google Shape;90;p29">
            <a:extLst>
              <a:ext uri="{FF2B5EF4-FFF2-40B4-BE49-F238E27FC236}">
                <a16:creationId xmlns:a16="http://schemas.microsoft.com/office/drawing/2014/main" id="{FEBD5E9D-5AAF-5F6B-29DF-8023A837D7F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632802" y="134197"/>
            <a:ext cx="5258657" cy="4875106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indent="0" algn="just">
              <a:buNone/>
            </a:pPr>
            <a:r>
              <a:rPr lang="en-US" sz="1400" dirty="0"/>
              <a:t>The workflow automates the end-to-end processing of rate confirmations, transforming unstructured shipment documents into structured operational data.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sz="1400" b="1" dirty="0"/>
              <a:t>Key Outcomes:</a:t>
            </a:r>
          </a:p>
          <a:p>
            <a:pPr marL="0" indent="0" algn="just">
              <a:buNone/>
            </a:pPr>
            <a:r>
              <a:rPr lang="en-US" sz="1400" dirty="0"/>
              <a:t>• </a:t>
            </a:r>
            <a:r>
              <a:rPr lang="en-US" sz="1400" b="1" dirty="0"/>
              <a:t>~70–80% </a:t>
            </a:r>
            <a:r>
              <a:rPr lang="en-US" sz="1400" dirty="0"/>
              <a:t>reduction in repetitive manual processing</a:t>
            </a:r>
          </a:p>
          <a:p>
            <a:pPr marL="0" indent="0" algn="just">
              <a:buNone/>
            </a:pPr>
            <a:r>
              <a:rPr lang="en-US" sz="1400" dirty="0"/>
              <a:t>• Automated processing of shipment confirmations</a:t>
            </a:r>
          </a:p>
          <a:p>
            <a:pPr marL="0" indent="0" algn="just">
              <a:buNone/>
            </a:pPr>
            <a:r>
              <a:rPr lang="en-US" sz="1400" dirty="0"/>
              <a:t>• </a:t>
            </a:r>
            <a:r>
              <a:rPr lang="en-US" sz="1400" b="1" dirty="0"/>
              <a:t>AI-based mileage calculation </a:t>
            </a:r>
            <a:r>
              <a:rPr lang="en-US" sz="1400" dirty="0"/>
              <a:t>using extracted location data</a:t>
            </a:r>
          </a:p>
          <a:p>
            <a:pPr marL="0" indent="0" algn="just">
              <a:buNone/>
            </a:pPr>
            <a:r>
              <a:rPr lang="en-US" sz="1400" dirty="0"/>
              <a:t>• Reduced repetitive data entry and manual lookup</a:t>
            </a:r>
          </a:p>
          <a:p>
            <a:pPr marL="0" indent="0" algn="just">
              <a:buNone/>
            </a:pPr>
            <a:r>
              <a:rPr lang="en-US" sz="1400" dirty="0"/>
              <a:t>• Faster and more structured </a:t>
            </a:r>
            <a:r>
              <a:rPr lang="en-US" sz="1400" b="1" dirty="0"/>
              <a:t>RPM reporting</a:t>
            </a:r>
          </a:p>
          <a:p>
            <a:pPr marL="0" indent="0" algn="just">
              <a:buNone/>
            </a:pPr>
            <a:r>
              <a:rPr lang="en-US" sz="1400" dirty="0"/>
              <a:t>• Automatic flagging of incomplete or low-confidence data</a:t>
            </a:r>
          </a:p>
        </p:txBody>
      </p:sp>
    </p:spTree>
    <p:extLst>
      <p:ext uri="{BB962C8B-B14F-4D97-AF65-F5344CB8AC3E}">
        <p14:creationId xmlns:p14="http://schemas.microsoft.com/office/powerpoint/2010/main" val="3126196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C28F90CB-1176-33A9-2404-D1C297D98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>
            <a:extLst>
              <a:ext uri="{FF2B5EF4-FFF2-40B4-BE49-F238E27FC236}">
                <a16:creationId xmlns:a16="http://schemas.microsoft.com/office/drawing/2014/main" id="{EC15B228-2F9E-1E3D-F293-DF150FC03002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38366" y="429140"/>
            <a:ext cx="3199286" cy="410458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r>
              <a:rPr lang="en-US" sz="4000" b="1" dirty="0"/>
              <a:t>Business Impact</a:t>
            </a:r>
          </a:p>
        </p:txBody>
      </p:sp>
      <p:sp>
        <p:nvSpPr>
          <p:cNvPr id="90" name="Google Shape;90;p29">
            <a:extLst>
              <a:ext uri="{FF2B5EF4-FFF2-40B4-BE49-F238E27FC236}">
                <a16:creationId xmlns:a16="http://schemas.microsoft.com/office/drawing/2014/main" id="{86948772-55A0-98D5-C7D8-25FC7E0D080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213828" y="138536"/>
            <a:ext cx="4006248" cy="486642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indent="0" algn="just">
              <a:buNone/>
            </a:pPr>
            <a:r>
              <a:rPr lang="en-US" sz="1400" b="1" dirty="0"/>
              <a:t>Operational Improvements:</a:t>
            </a:r>
          </a:p>
          <a:p>
            <a:pPr marL="0" indent="0" algn="just">
              <a:buNone/>
            </a:pPr>
            <a:r>
              <a:rPr lang="en-US" sz="1400" dirty="0"/>
              <a:t>• Reduced repetitive manual work</a:t>
            </a:r>
          </a:p>
          <a:p>
            <a:pPr marL="0" indent="0" algn="just">
              <a:buNone/>
            </a:pPr>
            <a:r>
              <a:rPr lang="en-US" sz="1400" dirty="0"/>
              <a:t>• Improved reporting efficiency</a:t>
            </a:r>
          </a:p>
          <a:p>
            <a:pPr marL="0" indent="0" algn="just">
              <a:buNone/>
            </a:pPr>
            <a:r>
              <a:rPr lang="en-US" sz="1400" dirty="0"/>
              <a:t>• Increased data consistency</a:t>
            </a:r>
          </a:p>
          <a:p>
            <a:pPr marL="0" indent="0" algn="just">
              <a:buNone/>
            </a:pPr>
            <a:r>
              <a:rPr lang="en-US" sz="1400" dirty="0"/>
              <a:t>• Supports scalable document processing</a:t>
            </a:r>
          </a:p>
          <a:p>
            <a:pPr marL="0" indent="0" algn="just">
              <a:buNone/>
            </a:pPr>
            <a:endParaRPr lang="en-US" sz="1400" dirty="0"/>
          </a:p>
          <a:p>
            <a:pPr marL="0" indent="0" algn="just">
              <a:buNone/>
            </a:pPr>
            <a:r>
              <a:rPr lang="en-US" sz="1400" b="1" dirty="0"/>
              <a:t>Automation Capabilities:</a:t>
            </a:r>
          </a:p>
          <a:p>
            <a:pPr marL="0" indent="0" algn="just">
              <a:buNone/>
            </a:pPr>
            <a:r>
              <a:rPr lang="en-US" sz="1400" dirty="0"/>
              <a:t>• AI-powered document extraction</a:t>
            </a:r>
          </a:p>
          <a:p>
            <a:pPr marL="0" indent="0" algn="just">
              <a:buNone/>
            </a:pPr>
            <a:r>
              <a:rPr lang="en-US" sz="1400" dirty="0"/>
              <a:t>• Automated mileage enrichment</a:t>
            </a:r>
          </a:p>
          <a:p>
            <a:pPr marL="0" indent="0" algn="just">
              <a:buNone/>
            </a:pPr>
            <a:r>
              <a:rPr lang="en-US" sz="1400" dirty="0"/>
              <a:t>• Validation and monitoring workflow</a:t>
            </a:r>
          </a:p>
          <a:p>
            <a:pPr marL="0" indent="0" algn="just">
              <a:buNone/>
            </a:pPr>
            <a:r>
              <a:rPr lang="en-US" sz="1400" dirty="0"/>
              <a:t>• Structured spreadsheet reporting output</a:t>
            </a:r>
          </a:p>
        </p:txBody>
      </p:sp>
    </p:spTree>
    <p:extLst>
      <p:ext uri="{BB962C8B-B14F-4D97-AF65-F5344CB8AC3E}">
        <p14:creationId xmlns:p14="http://schemas.microsoft.com/office/powerpoint/2010/main" val="3250947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E4027593-410B-1542-599D-59FCBF0C3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>
            <a:extLst>
              <a:ext uri="{FF2B5EF4-FFF2-40B4-BE49-F238E27FC236}">
                <a16:creationId xmlns:a16="http://schemas.microsoft.com/office/drawing/2014/main" id="{1D74C20A-6C97-D424-C786-0C6E731AE962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638175" y="429140"/>
            <a:ext cx="3699477" cy="410458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r>
              <a:rPr lang="en-US" sz="4000" b="1" dirty="0"/>
              <a:t>Production Readiness &amp; Future Enhancements</a:t>
            </a:r>
          </a:p>
        </p:txBody>
      </p:sp>
      <p:sp>
        <p:nvSpPr>
          <p:cNvPr id="90" name="Google Shape;90;p29">
            <a:extLst>
              <a:ext uri="{FF2B5EF4-FFF2-40B4-BE49-F238E27FC236}">
                <a16:creationId xmlns:a16="http://schemas.microsoft.com/office/drawing/2014/main" id="{61210FA3-985F-DC97-79EA-09D4AB49A75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213828" y="138536"/>
            <a:ext cx="4006248" cy="486642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indent="0" algn="just">
              <a:buNone/>
            </a:pPr>
            <a:r>
              <a:rPr lang="en-US" sz="1400" b="1" dirty="0"/>
              <a:t>How AI improved it:</a:t>
            </a:r>
          </a:p>
          <a:p>
            <a:pPr marL="0" indent="0" algn="just">
              <a:buNone/>
            </a:pPr>
            <a:r>
              <a:rPr lang="en-US" sz="1400" dirty="0"/>
              <a:t>• Automated extraction of shipment data from unstructured documents</a:t>
            </a:r>
          </a:p>
          <a:p>
            <a:pPr marL="0" indent="0" algn="just">
              <a:buNone/>
            </a:pPr>
            <a:r>
              <a:rPr lang="en-US" sz="1400" dirty="0"/>
              <a:t>• AI-based mileage calculation reduces manual lookup work</a:t>
            </a:r>
          </a:p>
          <a:p>
            <a:pPr marL="0" indent="0" algn="just">
              <a:buNone/>
            </a:pPr>
            <a:r>
              <a:rPr lang="en-US" sz="1400" dirty="0"/>
              <a:t>• Supports processing larger volumes of shipment documents</a:t>
            </a:r>
          </a:p>
          <a:p>
            <a:pPr marL="0" indent="0" algn="just">
              <a:buNone/>
            </a:pPr>
            <a:endParaRPr lang="en-US" sz="1400" dirty="0"/>
          </a:p>
          <a:p>
            <a:pPr marL="0" indent="0" algn="just">
              <a:buNone/>
            </a:pPr>
            <a:r>
              <a:rPr lang="en-US" sz="1400" b="1" dirty="0"/>
              <a:t>Future Enhancements:</a:t>
            </a:r>
          </a:p>
          <a:p>
            <a:pPr marL="0" indent="0" algn="just">
              <a:buNone/>
            </a:pPr>
            <a:r>
              <a:rPr lang="en-US" sz="1400" dirty="0"/>
              <a:t>• Replace LLM mileage estimation with Google Maps API for higher accuracy</a:t>
            </a:r>
          </a:p>
          <a:p>
            <a:pPr marL="0" indent="0" algn="just">
              <a:buNone/>
            </a:pPr>
            <a:r>
              <a:rPr lang="en-US" sz="1400" dirty="0"/>
              <a:t>• Use a custom-trained extraction model to improve extraction accuracy across different broker formats</a:t>
            </a:r>
          </a:p>
        </p:txBody>
      </p:sp>
    </p:spTree>
    <p:extLst>
      <p:ext uri="{BB962C8B-B14F-4D97-AF65-F5344CB8AC3E}">
        <p14:creationId xmlns:p14="http://schemas.microsoft.com/office/powerpoint/2010/main" val="1784317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274</TotalTime>
  <Words>1122</Words>
  <Application>Microsoft Macintosh PowerPoint</Application>
  <PresentationFormat>On-screen Show (16:9)</PresentationFormat>
  <Paragraphs>119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Aptos</vt:lpstr>
      <vt:lpstr>Inter ExtraBold</vt:lpstr>
      <vt:lpstr>Aptos Display</vt:lpstr>
      <vt:lpstr>Office Theme</vt:lpstr>
      <vt:lpstr>AI-Powered Logistics Operations Automation Rate Confirmation Processing • UiPath • Document Understanding • AI Workflow Automation  Maryna Khlynina</vt:lpstr>
      <vt:lpstr>Business Context</vt:lpstr>
      <vt:lpstr>Manual Rate Confirmation Workflow</vt:lpstr>
      <vt:lpstr>Automation Solution</vt:lpstr>
      <vt:lpstr>Automation Workflow Architecture</vt:lpstr>
      <vt:lpstr>Automation Architecture Components</vt:lpstr>
      <vt:lpstr>Document Understanding &amp; Custom Extractor</vt:lpstr>
      <vt:lpstr>AI-Powered Mileage Calculation</vt:lpstr>
      <vt:lpstr>Data Mapping &amp; Debugging</vt:lpstr>
      <vt:lpstr>Validation Logic</vt:lpstr>
      <vt:lpstr>Workflow Monitoring &amp; Alerts</vt:lpstr>
      <vt:lpstr>Structured Reporting Output</vt:lpstr>
      <vt:lpstr>Key Outcomes</vt:lpstr>
      <vt:lpstr>Business Impact</vt:lpstr>
      <vt:lpstr>Production Readiness &amp; Future Enhancements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maryna khlynina</cp:lastModifiedBy>
  <cp:revision>5</cp:revision>
  <dcterms:modified xsi:type="dcterms:W3CDTF">2026-06-01T22:01:37Z</dcterms:modified>
</cp:coreProperties>
</file>